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f16bee6202e4687" /><Relationship Type="http://schemas.openxmlformats.org/officeDocument/2006/relationships/extended-properties" Target="/docProps/app.xml" Id="R76df9ab8702c4721" /><Relationship Type="http://schemas.openxmlformats.org/officeDocument/2006/relationships/officeDocument" Target="/ppt/presentation.xml" Id="R473846a0449e46cc" /></Relationships>
</file>

<file path=ppt/presentation.xml><?xml version="1.0" encoding="utf-8"?>
<p:presentation xmlns:p="http://schemas.openxmlformats.org/presentationml/2006/main">
  <p:sldMasterIdLst>
    <p:sldMasterId xmlns:r="http://schemas.openxmlformats.org/officeDocument/2006/relationships" id="2147483648" r:id="R9a52bd24ce1b49b6"/>
  </p:sldMasterIdLst>
  <p:notesMasterIdLst>
    <p:notesMasterId xmlns:r="http://schemas.openxmlformats.org/officeDocument/2006/relationships" r:id="Rd302a504431d49f5"/>
  </p:notesMasterIdLst>
  <p:sldIdLst>
    <p:sldId xmlns:r="http://schemas.openxmlformats.org/officeDocument/2006/relationships" id="256" r:id="R40e122d3816f4310"/>
    <p:sldId xmlns:r="http://schemas.openxmlformats.org/officeDocument/2006/relationships" id="257" r:id="R054e8637db7d4aef"/>
    <p:sldId xmlns:r="http://schemas.openxmlformats.org/officeDocument/2006/relationships" id="258" r:id="R4b17ec3295af4589"/>
    <p:sldId xmlns:r="http://schemas.openxmlformats.org/officeDocument/2006/relationships" id="259" r:id="Re71b33c7a47e438f"/>
    <p:sldId xmlns:r="http://schemas.openxmlformats.org/officeDocument/2006/relationships" id="260" r:id="R76103ce3e3ed4535"/>
    <p:sldId xmlns:r="http://schemas.openxmlformats.org/officeDocument/2006/relationships" id="261" r:id="Re8397536412941cd"/>
    <p:sldId xmlns:r="http://schemas.openxmlformats.org/officeDocument/2006/relationships" id="262" r:id="R272c55ec3fe14c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056903c7b042ea" /><Relationship Type="http://schemas.openxmlformats.org/officeDocument/2006/relationships/slideMaster" Target="/ppt/slideMasters/slideMaster1.xml" Id="R9a52bd24ce1b49b6" /><Relationship Type="http://schemas.openxmlformats.org/officeDocument/2006/relationships/notesMaster" Target="/ppt/notesMasters/notesMaster1.xml" Id="Rd302a504431d49f5" /><Relationship Type="http://schemas.openxmlformats.org/officeDocument/2006/relationships/presProps" Target="/ppt/presProps.xml" Id="R65587182aeb5472c" /><Relationship Type="http://schemas.openxmlformats.org/officeDocument/2006/relationships/tableStyles" Target="/ppt/tableStyles.xml" Id="R0fb3f95e5d4940d7" /><Relationship Type="http://schemas.openxmlformats.org/officeDocument/2006/relationships/slide" Target="/ppt/slides/slide1.xml" Id="R40e122d3816f4310" /><Relationship Type="http://schemas.openxmlformats.org/officeDocument/2006/relationships/slide" Target="/ppt/slides/slide2.xml" Id="R054e8637db7d4aef" /><Relationship Type="http://schemas.openxmlformats.org/officeDocument/2006/relationships/slide" Target="/ppt/slides/slide3.xml" Id="R4b17ec3295af4589" /><Relationship Type="http://schemas.openxmlformats.org/officeDocument/2006/relationships/slide" Target="/ppt/slides/slide4.xml" Id="Re71b33c7a47e438f" /><Relationship Type="http://schemas.openxmlformats.org/officeDocument/2006/relationships/slide" Target="/ppt/slides/slide5.xml" Id="R76103ce3e3ed4535" /><Relationship Type="http://schemas.openxmlformats.org/officeDocument/2006/relationships/slide" Target="/ppt/slides/slide6.xml" Id="Re8397536412941cd" /><Relationship Type="http://schemas.openxmlformats.org/officeDocument/2006/relationships/slide" Target="/ppt/slides/slide7.xml" Id="R272c55ec3fe14c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5be06c857e40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f0b5eb0f524dc5" /><Relationship Type="http://schemas.openxmlformats.org/officeDocument/2006/relationships/notesMaster" Target="/ppt/notesMasters/notesMaster1.xml" Id="Rb5a0989da12942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fd12efa4b14c7d" /><Relationship Type="http://schemas.openxmlformats.org/officeDocument/2006/relationships/notesMaster" Target="/ppt/notesMasters/notesMaster1.xml" Id="Rbb2b583461834f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42da8258de4e7d" /><Relationship Type="http://schemas.openxmlformats.org/officeDocument/2006/relationships/notesMaster" Target="/ppt/notesMasters/notesMaster1.xml" Id="R8bb0302ee87a4b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31500bc61c48f0" /><Relationship Type="http://schemas.openxmlformats.org/officeDocument/2006/relationships/notesMaster" Target="/ppt/notesMasters/notesMaster1.xml" Id="R222f36e8854a4f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44a2259d9046b9" /><Relationship Type="http://schemas.openxmlformats.org/officeDocument/2006/relationships/notesMaster" Target="/ppt/notesMasters/notesMaster1.xml" Id="R4ef518ae118e40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1ffa12cab5473d" /><Relationship Type="http://schemas.openxmlformats.org/officeDocument/2006/relationships/notesMaster" Target="/ppt/notesMasters/notesMaster1.xml" Id="R50e44763a4fe4d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16fdd8ba034b48" /><Relationship Type="http://schemas.openxmlformats.org/officeDocument/2006/relationships/notesMaster" Target="/ppt/notesMasters/notesMaster1.xml" Id="R382211fa802241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October 6, 2026: independent Rust and C++20 ports each implement the pinned CPU/Python semantic surface, including 90 core exports, 16 public utility helpers, tensors/views, contractions, linear algebra, FFT, decomposition, block/tiled storage, HDF5 and runtime services, across float32, float64, complex64 and complex128. GPU is excluded. C++20 uses Eigen and HDF5 without linking upstream Einsums or delegating arithmetic to Rust, NumPy or SciPy. Python calling-interface code shares its origin with the Rust port and loads only the selected native backend. Export presence does not establish exact upstream calling contracts, C++ template overloads, vendor ABI or performance. Full-library automatic model translation is still pending for both checked-in ports.</a:t>
            </a:r>
          </a:p>
          <a:p xmlns:a="http://schemas.openxmlformats.org/drawingml/2006/main">
            <a:r>
              <a:t/>
            </a:r>
          </a:p>
          <a:p xmlns:a="http://schemas.openxmlformats.org/drawingml/2006/main">
            <a:r>
              <a:t>C++20 validation: the new 23-operation campaign accepts 128 newly generated SymSan cases and records PASS for all of them with upstream Einsums, C++ native, actual C++ Python and NumPy agreement. It excludes 351 malformed solver outputs. SymSan instruments the decoder only, and does not explore internal-library computations. The full-library completion gate remains INCOMPLETE_SCOPE. The C++ API replay reuses 128 authenticated earlier solver inputs over 31 groups and four dtypes, yielding 15,872 checks: 13,816 PASS and 2,056 REFERENCE_DISAGREEMENT, with zero candidate numerical failures against the replay expectations. This is replay, not fresh solver generation. Categories: pseudoinverse 512, truncated SVD 512, truncated Hermitian eigen 478, complex Lyapunov 256, LU 232, nullspace 43 and general eigen 23. These differences require contract review. The Rust September 8 replay chart is retained as a historical record: 13,810 PASS and 2,062 REFERENCE_DISAGREEMENT. Counts for the two runs must not be combined or interpreted as a controlled language comparison. The earlier six-operation C++ campaign passed 37 inputs and remains historical evidence.</a:t>
            </a:r>
          </a:p>
          <a:p xmlns:a="http://schemas.openxmlformats.org/drawingml/2006/main">
            <a:r>
              <a:t/>
            </a:r>
          </a:p>
          <a:p xmlns:a="http://schemas.openxmlformats.org/drawingml/2006/main">
            <a:r>
              <a:t>Implementation checks: 129 project tests pass with five C++-specific checks skipped for the Rust backend. The new native profile grid passes 4,416 operation/shape/value-pattern checks and the real Python campaign runner passes 69 profile cases. Both native CTest contracts pass under ASan/UBSan. These counts overlap and must not be added to solver counts. Selected upstream tensor/contraction tests: 171 pass, 88 GPU skips and 96 slow deselections. Upstream linalg/views: 448 pass, 40 literal eigenvalue-order or nonunique full-SVD/nullspace basis comparisons fail, 16 slow deselections. Separate reconstruction, orthogonality and eigenpair-residual checks pass, including sizes 10 and 50. The installed native headers/shared library and a repaired macOS arm64/Python 3.11 wheel pass standalone consumer, solve, complex SVD and HDF5 checks. DFT is quadratic and generic contractions enumerate scalar indices. Performance equivalence is unverified.</a:t>
            </a:r>
          </a:p>
          <a:p xmlns:a="http://schemas.openxmlformats.org/drawingml/2006/main">
            <a:r>
              <a:t/>
            </a:r>
          </a:p>
          <a:p xmlns:a="http://schemas.openxmlformats.org/drawingml/2006/main">
            <a:r>
              <a:t>Next work: resolve reference/calling-contract differences, vary numerical payloads and explore computation paths, extend proofs beyond the six-operation bounds, then validate downstream/Psi4 behavior and native performance. The current library-surface implementation is complete within this semantic CPU/Python scope, while exact whole-library compatibility remains open.</a:t>
            </a:r>
          </a:p>
          <a:p xmlns:a="http://schemas.openxmlformats.org/drawingml/2006/main">
            <a:r>
              <a:t/>
            </a:r>
          </a:p>
          <a:p xmlns:a="http://schemas.openxmlformats.org/drawingml/2006/main">
            <a:r>
              <a:t>Repository evidence</a:t>
            </a:r>
          </a:p>
          <a:p xmlns:a="http://schemas.openxmlformats.org/drawingml/2006/main">
            <a:r>
              <a:t>/Users/kbhardwaj6/SSE/sage/ports/einsums-cpp/verification.json</a:t>
            </a:r>
          </a:p>
          <a:p xmlns:a="http://schemas.openxmlformats.org/drawingml/2006/main">
            <a:r>
              <a:t>/Users/kbhardwaj6/SSE/sage/ports/einsums-cpp/README.md</a:t>
            </a:r>
          </a:p>
          <a:p xmlns:a="http://schemas.openxmlformats.org/drawingml/2006/main">
            <a:r>
              <a:t>/Users/kbhardwaj6/SSE/sage/ports/einsums-cpp/api-surface.json</a:t>
            </a:r>
          </a:p>
          <a:p xmlns:a="http://schemas.openxmlformats.org/drawingml/2006/main">
            <a:r>
              <a:t>/Users/kbhardwaj6/SSE/sage/docs/modern-cpp.md</a:t>
            </a:r>
          </a:p>
          <a:p xmlns:a="http://schemas.openxmlformats.org/drawingml/2006/main">
            <a:r>
              <a:t>/Users/kbhardwaj6/SSE/sage/docs/einsums-api.md</a:t>
            </a:r>
          </a:p>
          <a:p xmlns:a="http://schemas.openxmlformats.org/drawingml/2006/main">
            <a:r>
              <a:t>/Users/kbhardwaj6/SSE/sage/docs/formal-verification.md</a:t>
            </a:r>
          </a:p>
          <a:p xmlns:a="http://schemas.openxmlformats.org/drawingml/2006/main">
            <a:r>
              <a:t>/Users/kbhardwaj6/SSE/sage/runs/20261006T152014.013938Z-115b5d8bf7/report.md</a:t>
            </a:r>
          </a:p>
          <a:p xmlns:a="http://schemas.openxmlformats.org/drawingml/2006/main">
            <a:r>
              <a:t>/Users/kbhardwaj6/SSE/sage/runs/20261006T151151.290470Z-einsums-api-cpp20/report.md</a:t>
            </a:r>
          </a:p>
          <a:p xmlns:a="http://schemas.openxmlformats.org/drawingml/2006/main">
            <a:r>
              <a:t>/Users/kbhardwaj6/SSE/sage/runs/20260908T184451.753740Z-einsums-api/report.md</a:t>
            </a:r>
          </a:p>
          <a:p xmlns:a="http://schemas.openxmlformats.org/drawingml/2006/main">
            <a:r>
              <a:t>/Users/kbhardwaj6/SSE/sage/runs/20261004-einsums-bounded-proof-final/manifest.json</a:t>
            </a:r>
          </a:p>
          <a:p xmlns:a="http://schemas.openxmlformats.org/drawingml/2006/main">
            <a:r>
              <a:t>/Users/kbhardwaj6/SSE/sage/runs/20261005-einsums-cpp20-bounded-proof/manifest.json</a:t>
            </a:r>
          </a:p>
          <a:p xmlns:a="http://schemas.openxmlformats.org/drawingml/2006/main">
            <a:r>
              <a:t/>
            </a:r>
          </a:p>
          <a:p xmlns:a="http://schemas.openxmlformats.org/drawingml/2006/main">
            <a:r>
              <a:t>Current formal state, October 6, 2026. Copy, add, elementwise multiply, transpose, matmul and scale each have bounded production Tensor method proofs in Rust and C++20. There are 144 obligations per language: 16 shapes for five operations and all 64 m/k/n combinations for matrix multiplication. Each dimension is 1..4. Kani checks the generic Rust production methods over injective ordered expression trees. CBMC checks the mechanically materialized C++ public-method bodies over the same expression grammar. This preserves operand indices, multiplication operand order, positive-zero initialization and every addition. Interpreting the trees as deterministic binary64 operations establishes the conditional bounded result without assuming associativity or reassociation. It relies on trusted compilers, parametricity, arithmetic and standard-library memory models. It is not a verified-compiler theorem. C++ compiler certificates match every instruction, attribute and metadata item for all 144 entries, for both binary64 and expression arithmetic, after removing only ModuleID and source filename. Both ports detect six isolated source mutations and replay each as a native binary64 failure while the original succeeds. Numerical production files are not mutated.</a:t>
            </a:r>
          </a:p>
          <a:p xmlns:a="http://schemas.openxmlformats.org/drawingml/2006/main">
            <a:r>
              <a:t/>
            </a:r>
          </a:p>
          <a:p xmlns:a="http://schemas.openxmlformats.org/drawingml/2006/main">
            <a:r>
              <a:t>Public APIs: eligible float64 requests with rank two, dimensions 1..4, and signed-byte values divided by eight route to the proved methods in the native JSON/FFI dispatchers. Python copy, addition, multiplication, transpose, matmul and scale therefore use the same bounded code. There are 864 exact-bit Python checks and 864 JSON/FFI checks per language, covering all 144 combinations with six value patterns, input preservation, output shape/contiguity and ownership. Decoding, serialization and Python/FFI lifetimes have native checks, not symbolic proofs. Other dtypes, larger/rank-general shapes, nondyadic/nonfinite inputs, negative zero inputs, broadcast and accumulated/flagged matmul use general Array paths. Existing source-pinned upstream scalar copy/transpose proofs were refreshed against the current code. Full upstream public call chains including vendor BLAS, planner/dispatch/SIMD/OpenMP, arbitrary dtypes/shapes and whole-library equivalence remain excluded.</a:t>
            </a:r>
          </a:p>
          <a:p xmlns:a="http://schemas.openxmlformats.org/drawingml/2006/main">
            <a:r>
              <a:t/>
            </a:r>
          </a:p>
          <a:p xmlns:a="http://schemas.openxmlformats.org/drawingml/2006/main">
            <a:r>
              <a:t>Evidence: docs/tensor-six-proof.md; artifacts/tensor-six/report.md; runs/20261006-repository-rust-six/manifest.json; runs/20261006-repository-cpp20-six/manifest.json; their api-replay.json and native-fault-replay.json files. Next proof work: general sizes and dtypes, upstream BLAS contracts and complete adapters. Compatibility contract review, varied solver payloads, computation-path exploration, downstream/Psi4 checks and performance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bc4993658c45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81865ed242402b" /><Relationship Type="http://schemas.openxmlformats.org/officeDocument/2006/relationships/slideLayout" Target="/ppt/slideLayouts/slideLayout1.xml" Id="R4772d82b6d2d46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72d82b6d2d46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ea0ada9b6649b8" /><Relationship Type="http://schemas.openxmlformats.org/officeDocument/2006/relationships/image" Target="/ppt/media/image.png" Id="Rfdacca4d451b46a7" /><Relationship Type="http://schemas.openxmlformats.org/officeDocument/2006/relationships/notesSlide" Target="/ppt/notesSlides/notesSlide1.xml" Id="R0bb04fea15554c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45006c733c4669" /><Relationship Type="http://schemas.openxmlformats.org/officeDocument/2006/relationships/notesSlide" Target="/ppt/notesSlides/notesSlide2.xml" Id="R2b7518206d6847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ccff3e393f4b07" /><Relationship Type="http://schemas.openxmlformats.org/officeDocument/2006/relationships/notesSlide" Target="/ppt/notesSlides/notesSlide3.xml" Id="Ra06de330bd1747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d8be267da54d2e" /><Relationship Type="http://schemas.openxmlformats.org/officeDocument/2006/relationships/chart" Target="/ppt/slides/charts/chart1.xml" Id="Rce3610e8399444b2" /><Relationship Type="http://schemas.openxmlformats.org/officeDocument/2006/relationships/notesSlide" Target="/ppt/notesSlides/notesSlide4.xml" Id="Rcd13aa46193c42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667d5c1bcd4d46" /><Relationship Type="http://schemas.openxmlformats.org/officeDocument/2006/relationships/notesSlide" Target="/ppt/notesSlides/notesSlide5.xml" Id="Re40d88ac23f646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2b069afc7a4b6b" /><Relationship Type="http://schemas.openxmlformats.org/officeDocument/2006/relationships/notesSlide" Target="/ppt/notesSlides/notesSlide6.xml" Id="Re52c7afcd3d044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844615c0a642d7" /><Relationship Type="http://schemas.openxmlformats.org/officeDocument/2006/relationships/notesSlide" Target="/ppt/notesSlides/notesSlide7.xml" Id="Rc122448f9482460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Comparison checks</c:v>
          </c:tx>
          <c:spPr>
            <a:solidFill xmlns:a="http://schemas.openxmlformats.org/drawingml/2006/main">
              <a:srgbClr val="007F78"/>
            </a:solidFill>
          </c:spPr>
          <c:dPt>
            <c:idx val="1"/>
            <c:invertIfNegative val="0"/>
            <c:spPr>
              <a:solidFill xmlns:a="http://schemas.openxmlformats.org/drawingml/2006/main">
                <a:srgbClr val="AB671B"/>
              </a:solidFill>
            </c:spPr>
          </c:dPt>
          <c:cat>
            <c:strRef>
              <c:f>'Chart Data'!$A$2:$A$3</c:f>
              <c:strCache>
                <c:ptCount val="2"/>
                <c:pt idx="0">
                  <c:v>Both implementations pass</c:v>
                </c:pt>
                <c:pt idx="1">
                  <c:v>Disagreements to review</c:v>
                </c:pt>
              </c:strCache>
            </c:strRef>
          </c:cat>
          <c:val>
            <c:numRef>
              <c:f>'Chart Data'!$B$2:$B$3</c:f>
              <c:numCache>
                <c:formatCode>General</c:formatCode>
                <c:ptCount val="2"/>
                <c:pt idx="0">
                  <c:v>13810</c:v>
                </c:pt>
                <c:pt idx="1">
                  <c:v>2062</c:v>
                </c:pt>
              </c:numCache>
            </c:numRef>
          </c:val>
        </c:ser>
        <c:dLbls>
          <c:txPr>
            <a:bodyPr xmlns:a="http://schemas.openxmlformats.org/drawingml/2006/main" anchorCtr="1"/>
            <a:lstStyle xmlns:a="http://schemas.openxmlformats.org/drawingml/2006/main"/>
            <a:p xmlns:a="http://schemas.openxmlformats.org/drawingml/2006/main">
              <a:pPr>
                <a:defRPr sz="2100">
                  <a:solidFill>
                    <a:srgbClr val="142C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673"/>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025">
                <a:solidFill>
                  <a:srgbClr val="142C3B"/>
                </a:solidFill>
                <a:latin typeface="Helvetica Neue"/>
                <a:ea typeface="Helvetica Neue"/>
                <a:cs typeface="Helvetica Neue"/>
              </a:defRPr>
            </a:pPr>
          </a:p>
        </c:txPr>
        <c:crossAx val="48650112"/>
        <c:crossBetween val="between"/>
      </c:valAx>
      <c:spPr>
        <a:solidFill xmlns:a="http://schemas.openxmlformats.org/drawingml/2006/main">
          <a:srgbClr val="F5F7F6"/>
        </a:solidFill>
      </c:spPr>
    </c:plotArea>
    <c:plotVisOnly val="1"/>
  </c:chart>
  <c:spPr>
    <a:solidFill xmlns:a="http://schemas.openxmlformats.org/drawingml/2006/main">
      <a:srgbClr val="F5F7F6"/>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E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206BA0-329A-4877-BD79-903CED49FE5B}"/>
              </a:ext>
            </a:extLst>
          </p:cNvPr>
          <p:cNvSpPr>
            <a:spLocks xmlns:a="http://schemas.openxmlformats.org/drawingml/2006/main" noGrp="1"/>
          </p:cNvSpPr>
          <p:nvPr/>
        </p:nvSpPr>
        <p:spPr>
          <a:xfrm xmlns:a="http://schemas.openxmlformats.org/drawingml/2006/main">
            <a:off x="11144250"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9DB5C2"/>
                </a:solidFill>
                <a:latin typeface="Helvetica Neue"/>
                <a:ea typeface="Helvetica Neue"/>
                <a:cs typeface="Helvetica Neue"/>
              </a:defRPr>
            </a:pPr>
            <a:r>
              <a:rPr sz="1200" b="0">
                <a:solidFill>
                  <a:srgbClr val="9DB5C2"/>
                </a:solidFill>
                <a:latin typeface="Helvetica Neue"/>
                <a:ea typeface="Helvetica Neue"/>
                <a:cs typeface="Helvetica Neue"/>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dacca4d451b46a7"/>
          <a:stretch xmlns:a="http://schemas.openxmlformats.org/drawingml/2006/main"/>
        </p:blipFill>
        <p:spPr>
          <a:xfrm xmlns:a="http://schemas.openxmlformats.org/drawingml/2006/main">
            <a:off x="6229350" y="1670050"/>
            <a:ext cx="5619750" cy="3746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70D553-35EF-4371-A2D4-E068FBF4D855}"/>
              </a:ext>
            </a:extLst>
          </p:cNvPr>
          <p:cNvSpPr>
            <a:spLocks xmlns:a="http://schemas.openxmlformats.org/drawingml/2006/main" noGrp="1"/>
          </p:cNvSpPr>
          <p:nvPr/>
        </p:nvSpPr>
        <p:spPr>
          <a:xfrm xmlns:a="http://schemas.openxmlformats.org/drawingml/2006/main">
            <a:off x="685800" y="828675"/>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7500" b="1">
                <a:solidFill>
                  <a:srgbClr val="FFFFFF"/>
                </a:solidFill>
                <a:latin typeface="Helvetica Neue"/>
                <a:ea typeface="Helvetica Neue"/>
                <a:cs typeface="Helvetica Neue"/>
              </a:defRPr>
            </a:pPr>
            <a:r>
              <a:rPr sz="7500" b="1">
                <a:solidFill>
                  <a:srgbClr val="FFFFFF"/>
                </a:solidFill>
                <a:latin typeface="Helvetica Neue"/>
                <a:ea typeface="Helvetica Neue"/>
                <a:cs typeface="Helvetica Neue"/>
              </a:rPr>
              <a:t>SAGE</a:t>
            </a:r>
          </a:p>
        </p:txBody>
      </p:sp>
      <p:sp>
        <p:nvSpPr>
          <p:cNvPr id="4" name="">
            <a:extLst xmlns:a="http://schemas.openxmlformats.org/drawingml/2006/main">
              <a:ext uri="{FF2B5EF4-FFF2-40B4-BE49-F238E27FC236}">
                <a16:creationId xmlns:a16="http://schemas.microsoft.com/office/drawing/2014/main" id="{E90E2D28-1C83-4F19-8995-DFB88E569739}"/>
              </a:ext>
            </a:extLst>
          </p:cNvPr>
          <p:cNvSpPr>
            <a:spLocks xmlns:a="http://schemas.openxmlformats.org/drawingml/2006/main" noGrp="1"/>
          </p:cNvSpPr>
          <p:nvPr/>
        </p:nvSpPr>
        <p:spPr>
          <a:xfrm xmlns:a="http://schemas.openxmlformats.org/drawingml/2006/main">
            <a:off x="685800" y="2571750"/>
            <a:ext cx="5429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Project update</a:t>
            </a:r>
          </a:p>
        </p:txBody>
      </p:sp>
      <p:sp>
        <p:nvSpPr>
          <p:cNvPr id="5" name="">
            <a:extLst xmlns:a="http://schemas.openxmlformats.org/drawingml/2006/main">
              <a:ext uri="{FF2B5EF4-FFF2-40B4-BE49-F238E27FC236}">
                <a16:creationId xmlns:a16="http://schemas.microsoft.com/office/drawing/2014/main" id="{1A5668E5-648F-4BA2-B786-EDDD6F413B7E}"/>
              </a:ext>
            </a:extLst>
          </p:cNvPr>
          <p:cNvSpPr>
            <a:spLocks xmlns:a="http://schemas.openxmlformats.org/drawingml/2006/main" noGrp="1"/>
          </p:cNvSpPr>
          <p:nvPr/>
        </p:nvSpPr>
        <p:spPr>
          <a:xfrm xmlns:a="http://schemas.openxmlformats.org/drawingml/2006/main">
            <a:off x="685800" y="3600450"/>
            <a:ext cx="5429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0">
                <a:solidFill>
                  <a:srgbClr val="8BD1BB"/>
                </a:solidFill>
                <a:latin typeface="Helvetica Neue"/>
                <a:ea typeface="Helvetica Neue"/>
                <a:cs typeface="Helvetica Neue"/>
              </a:defRPr>
            </a:pPr>
            <a:r>
              <a:rPr sz="2850" b="0">
                <a:solidFill>
                  <a:srgbClr val="8BD1BB"/>
                </a:solidFill>
                <a:latin typeface="Helvetica Neue"/>
                <a:ea typeface="Helvetica Neue"/>
                <a:cs typeface="Helvetica Neue"/>
              </a:rPr>
              <a:t>What is done</a:t>
            </a:r>
          </a:p>
          <a:p xmlns:a="http://schemas.openxmlformats.org/drawingml/2006/main">
            <a:pPr>
              <a:buNone/>
              <a:defRPr sz="2850" b="0">
                <a:solidFill>
                  <a:srgbClr val="8BD1BB"/>
                </a:solidFill>
                <a:latin typeface="Helvetica Neue"/>
                <a:ea typeface="Helvetica Neue"/>
                <a:cs typeface="Helvetica Neue"/>
              </a:defRPr>
            </a:pPr>
            <a:r>
              <a:rPr sz="2850" b="0">
                <a:solidFill>
                  <a:srgbClr val="8BD1BB"/>
                </a:solidFill>
                <a:latin typeface="Helvetica Neue"/>
                <a:ea typeface="Helvetica Neue"/>
                <a:cs typeface="Helvetica Neue"/>
              </a:rPr>
              <a:t>and what is pending</a:t>
            </a:r>
          </a:p>
        </p:txBody>
      </p:sp>
      <p:sp>
        <p:nvSpPr>
          <p:cNvPr id="6" name="">
            <a:extLst xmlns:a="http://schemas.openxmlformats.org/drawingml/2006/main">
              <a:ext uri="{FF2B5EF4-FFF2-40B4-BE49-F238E27FC236}">
                <a16:creationId xmlns:a16="http://schemas.microsoft.com/office/drawing/2014/main" id="{02D65BE8-E364-48DB-B21C-E8188DA68F41}"/>
              </a:ext>
            </a:extLst>
          </p:cNvPr>
          <p:cNvSpPr>
            <a:spLocks xmlns:a="http://schemas.openxmlformats.org/drawingml/2006/main" noGrp="1"/>
          </p:cNvSpPr>
          <p:nvPr/>
        </p:nvSpPr>
        <p:spPr>
          <a:xfrm xmlns:a="http://schemas.openxmlformats.org/drawingml/2006/main">
            <a:off x="685800" y="57435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B3C5CD"/>
                </a:solidFill>
                <a:latin typeface="Helvetica Neue"/>
                <a:ea typeface="Helvetica Neue"/>
                <a:cs typeface="Helvetica Neue"/>
              </a:defRPr>
            </a:pPr>
            <a:r>
              <a:rPr sz="1950" b="0">
                <a:solidFill>
                  <a:srgbClr val="B3C5CD"/>
                </a:solidFill>
                <a:latin typeface="Helvetica Neue"/>
                <a:ea typeface="Helvetica Neue"/>
                <a:cs typeface="Helvetica Neue"/>
              </a:rPr>
              <a:t>Updated October 6, 2026</a:t>
            </a:r>
          </a:p>
        </p:txBody>
      </p:sp>
    </p:spTree>
    <p:extLst>
      <p:ext uri="{BB962C8B-B14F-4D97-AF65-F5344CB8AC3E}">
        <p14:creationId xmlns:p14="http://schemas.microsoft.com/office/powerpoint/2010/main" val="1502700465"/>
      </p:ext>
    </p:extLst>
  </p:cSld>
</p:sld>
</file>

<file path=ppt/slides/slide2.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9BAD16-6A11-4A71-89C9-0BC8A7EBF3E4}"/>
              </a:ext>
            </a:extLst>
          </p:cNvPr>
          <p:cNvSpPr>
            <a:spLocks xmlns:a="http://schemas.openxmlformats.org/drawingml/2006/main" noGrp="1"/>
          </p:cNvSpPr>
          <p:nvPr/>
        </p:nvSpPr>
        <p:spPr>
          <a:xfrm xmlns:a="http://schemas.openxmlformats.org/drawingml/2006/main">
            <a:off x="685800" y="4762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42C3B"/>
                </a:solidFill>
                <a:latin typeface="Helvetica Neue"/>
                <a:ea typeface="Helvetica Neue"/>
                <a:cs typeface="Helvetica Neue"/>
              </a:defRPr>
            </a:pPr>
            <a:r>
              <a:rPr sz="3450" b="1">
                <a:solidFill>
                  <a:srgbClr val="142C3B"/>
                </a:solidFill>
                <a:latin typeface="Helvetica Neue"/>
                <a:ea typeface="Helvetica Neue"/>
                <a:cs typeface="Helvetica Neue"/>
              </a:rPr>
              <a:t>The project in one slide</a:t>
            </a:r>
          </a:p>
        </p:txBody>
      </p:sp>
      <p:sp>
        <p:nvSpPr>
          <p:cNvPr id="2" name="">
            <a:extLst xmlns:a="http://schemas.openxmlformats.org/drawingml/2006/main">
              <a:ext uri="{FF2B5EF4-FFF2-40B4-BE49-F238E27FC236}">
                <a16:creationId xmlns:a16="http://schemas.microsoft.com/office/drawing/2014/main" id="{0A522B7F-D538-47B1-BF1E-0E4B05631D38}"/>
              </a:ext>
            </a:extLst>
          </p:cNvPr>
          <p:cNvSpPr>
            <a:spLocks xmlns:a="http://schemas.openxmlformats.org/drawingml/2006/main" noGrp="1"/>
          </p:cNvSpPr>
          <p:nvPr/>
        </p:nvSpPr>
        <p:spPr>
          <a:xfrm xmlns:a="http://schemas.openxmlformats.org/drawingml/2006/main">
            <a:off x="11144250"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26673"/>
                </a:solidFill>
                <a:latin typeface="Helvetica Neue"/>
                <a:ea typeface="Helvetica Neue"/>
                <a:cs typeface="Helvetica Neue"/>
              </a:defRPr>
            </a:pPr>
            <a:r>
              <a:rPr sz="1200" b="0">
                <a:solidFill>
                  <a:srgbClr val="526673"/>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5289DEBC-5405-493A-A0CC-7CA55EE93D2A}"/>
              </a:ext>
            </a:extLst>
          </p:cNvPr>
          <p:cNvSpPr>
            <a:spLocks xmlns:a="http://schemas.openxmlformats.org/drawingml/2006/main" noGrp="1"/>
          </p:cNvSpPr>
          <p:nvPr/>
        </p:nvSpPr>
        <p:spPr>
          <a:xfrm xmlns:a="http://schemas.openxmlformats.org/drawingml/2006/main">
            <a:off x="685800" y="1552575"/>
            <a:ext cx="106203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75" b="1">
                <a:solidFill>
                  <a:srgbClr val="007F78"/>
                </a:solidFill>
                <a:latin typeface="Helvetica Neue"/>
                <a:ea typeface="Helvetica Neue"/>
                <a:cs typeface="Helvetica Neue"/>
              </a:defRPr>
            </a:pPr>
            <a:r>
              <a:rPr sz="3375" b="1">
                <a:solidFill>
                  <a:srgbClr val="007F78"/>
                </a:solidFill>
                <a:latin typeface="Helvetica Neue"/>
                <a:ea typeface="Helvetica Neue"/>
                <a:cs typeface="Helvetica Neue"/>
              </a:rPr>
              <a:t>Scientific software in Rust and C++20</a:t>
            </a:r>
          </a:p>
          <a:p xmlns:a="http://schemas.openxmlformats.org/drawingml/2006/main">
            <a:pPr>
              <a:buNone/>
              <a:defRPr sz="3375" b="1">
                <a:solidFill>
                  <a:srgbClr val="007F78"/>
                </a:solidFill>
                <a:latin typeface="Helvetica Neue"/>
                <a:ea typeface="Helvetica Neue"/>
                <a:cs typeface="Helvetica Neue"/>
              </a:defRPr>
            </a:pPr>
            <a:r>
              <a:rPr sz="3375" b="1">
                <a:solidFill>
                  <a:srgbClr val="007F78"/>
                </a:solidFill>
                <a:latin typeface="Helvetica Neue"/>
                <a:ea typeface="Helvetica Neue"/>
                <a:cs typeface="Helvetica Neue"/>
              </a:rPr>
              <a:t>with checks against the original implementation.</a:t>
            </a:r>
          </a:p>
        </p:txBody>
      </p:sp>
      <p:sp>
        <p:nvSpPr>
          <p:cNvPr id="4" name="">
            <a:extLst xmlns:a="http://schemas.openxmlformats.org/drawingml/2006/main">
              <a:ext uri="{FF2B5EF4-FFF2-40B4-BE49-F238E27FC236}">
                <a16:creationId xmlns:a16="http://schemas.microsoft.com/office/drawing/2014/main" id="{E61CEB2B-7391-4FE7-8D7F-3587A43D7D55}"/>
              </a:ext>
            </a:extLst>
          </p:cNvPr>
          <p:cNvSpPr>
            <a:spLocks xmlns:a="http://schemas.openxmlformats.org/drawingml/2006/main" noGrp="1"/>
          </p:cNvSpPr>
          <p:nvPr/>
        </p:nvSpPr>
        <p:spPr>
          <a:xfrm xmlns:a="http://schemas.openxmlformats.org/drawingml/2006/main">
            <a:off x="685800" y="322897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0">
                <a:solidFill>
                  <a:srgbClr val="142C3B"/>
                </a:solidFill>
                <a:latin typeface="Helvetica Neue"/>
                <a:ea typeface="Helvetica Neue"/>
                <a:cs typeface="Helvetica Neue"/>
              </a:defRPr>
            </a:pPr>
            <a:r>
              <a:rPr sz="2625" b="0">
                <a:solidFill>
                  <a:srgbClr val="142C3B"/>
                </a:solidFill>
                <a:latin typeface="Helvetica Neue"/>
                <a:ea typeface="Helvetica Neue"/>
                <a:cs typeface="Helvetica Neue"/>
              </a:rPr>
              <a:t>SAGE runs comparisons and saves the evidence.</a:t>
            </a:r>
          </a:p>
        </p:txBody>
      </p:sp>
      <p:sp>
        <p:nvSpPr>
          <p:cNvPr id="5" name="">
            <a:extLst xmlns:a="http://schemas.openxmlformats.org/drawingml/2006/main">
              <a:ext uri="{FF2B5EF4-FFF2-40B4-BE49-F238E27FC236}">
                <a16:creationId xmlns:a16="http://schemas.microsoft.com/office/drawing/2014/main" id="{51B482E6-5258-43C5-87A6-6DC2DF358107}"/>
              </a:ext>
            </a:extLst>
          </p:cNvPr>
          <p:cNvSpPr>
            <a:spLocks xmlns:a="http://schemas.openxmlformats.org/drawingml/2006/main" noGrp="1"/>
          </p:cNvSpPr>
          <p:nvPr/>
        </p:nvSpPr>
        <p:spPr>
          <a:xfrm xmlns:a="http://schemas.openxmlformats.org/drawingml/2006/main">
            <a:off x="685800" y="40100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625" b="0">
                <a:solidFill>
                  <a:srgbClr val="142C3B"/>
                </a:solidFill>
                <a:latin typeface="Helvetica Neue"/>
                <a:ea typeface="Helvetica Neue"/>
                <a:cs typeface="Helvetica Neue"/>
              </a:defRPr>
            </a:pPr>
            <a:r>
              <a:rPr sz="2625" b="0">
                <a:solidFill>
                  <a:srgbClr val="142C3B"/>
                </a:solidFill>
                <a:latin typeface="Helvetica Neue"/>
                <a:ea typeface="Helvetica Neue"/>
                <a:cs typeface="Helvetica Neue"/>
              </a:rPr>
              <a:t>Einsums is the current library under evaluation.</a:t>
            </a:r>
          </a:p>
        </p:txBody>
      </p:sp>
      <p:sp>
        <p:nvSpPr>
          <p:cNvPr id="6" name="">
            <a:extLst xmlns:a="http://schemas.openxmlformats.org/drawingml/2006/main">
              <a:ext uri="{FF2B5EF4-FFF2-40B4-BE49-F238E27FC236}">
                <a16:creationId xmlns:a16="http://schemas.microsoft.com/office/drawing/2014/main" id="{A7FB4362-117E-4ED8-8A95-DCDDBB32339D}"/>
              </a:ext>
            </a:extLst>
          </p:cNvPr>
          <p:cNvSpPr>
            <a:spLocks xmlns:a="http://schemas.openxmlformats.org/drawingml/2006/main" noGrp="1"/>
          </p:cNvSpPr>
          <p:nvPr/>
        </p:nvSpPr>
        <p:spPr>
          <a:xfrm xmlns:a="http://schemas.openxmlformats.org/drawingml/2006/main">
            <a:off x="685800" y="5191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526673"/>
                </a:solidFill>
                <a:latin typeface="Helvetica Neue"/>
                <a:ea typeface="Helvetica Neue"/>
                <a:cs typeface="Helvetica Neue"/>
              </a:defRPr>
            </a:pPr>
            <a:r>
              <a:rPr sz="2100" b="0">
                <a:solidFill>
                  <a:srgbClr val="526673"/>
                </a:solidFill>
                <a:latin typeface="Helvetica Neue"/>
                <a:ea typeface="Helvetica Neue"/>
                <a:cs typeface="Helvetica Neue"/>
              </a:rPr>
              <a:t>Both ports cover the CPU library and Python interface.</a:t>
            </a:r>
          </a:p>
        </p:txBody>
      </p:sp>
      <p:sp>
        <p:nvSpPr>
          <p:cNvPr id="7" name="">
            <a:extLst xmlns:a="http://schemas.openxmlformats.org/drawingml/2006/main">
              <a:ext uri="{FF2B5EF4-FFF2-40B4-BE49-F238E27FC236}">
                <a16:creationId xmlns:a16="http://schemas.microsoft.com/office/drawing/2014/main" id="{774A2F5A-B678-4E69-A660-DB3ACB68C75C}"/>
              </a:ext>
            </a:extLst>
          </p:cNvPr>
          <p:cNvSpPr>
            <a:spLocks xmlns:a="http://schemas.openxmlformats.org/drawingml/2006/main" noGrp="1"/>
          </p:cNvSpPr>
          <p:nvPr/>
        </p:nvSpPr>
        <p:spPr>
          <a:xfrm xmlns:a="http://schemas.openxmlformats.org/drawingml/2006/main">
            <a:off x="685800" y="56673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526673"/>
                </a:solidFill>
                <a:latin typeface="Helvetica Neue"/>
                <a:ea typeface="Helvetica Neue"/>
                <a:cs typeface="Helvetica Neue"/>
              </a:defRPr>
            </a:pPr>
            <a:r>
              <a:rPr sz="1950" b="0">
                <a:solidFill>
                  <a:srgbClr val="526673"/>
                </a:solidFill>
                <a:latin typeface="Helvetica Neue"/>
                <a:ea typeface="Helvetica Neue"/>
                <a:cs typeface="Helvetica Neue"/>
              </a:rPr>
              <a:t>GPU support is outside this scope.</a:t>
            </a:r>
          </a:p>
        </p:txBody>
      </p:sp>
    </p:spTree>
    <p:extLst>
      <p:ext uri="{BB962C8B-B14F-4D97-AF65-F5344CB8AC3E}">
        <p14:creationId xmlns:p14="http://schemas.microsoft.com/office/powerpoint/2010/main" val="551501508"/>
      </p:ext>
    </p:extLst>
  </p:cSld>
</p:sld>
</file>

<file path=ppt/slides/slide3.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6CD5E52-B08F-4570-8206-3B09829B1563}"/>
              </a:ext>
            </a:extLst>
          </p:cNvPr>
          <p:cNvSpPr>
            <a:spLocks xmlns:a="http://schemas.openxmlformats.org/drawingml/2006/main" noGrp="1"/>
          </p:cNvSpPr>
          <p:nvPr/>
        </p:nvSpPr>
        <p:spPr>
          <a:xfrm xmlns:a="http://schemas.openxmlformats.org/drawingml/2006/main">
            <a:off x="685800" y="4762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42C3B"/>
                </a:solidFill>
                <a:latin typeface="Helvetica Neue"/>
                <a:ea typeface="Helvetica Neue"/>
                <a:cs typeface="Helvetica Neue"/>
              </a:defRPr>
            </a:pPr>
            <a:r>
              <a:rPr sz="3450" b="1">
                <a:solidFill>
                  <a:srgbClr val="142C3B"/>
                </a:solidFill>
                <a:latin typeface="Helvetica Neue"/>
                <a:ea typeface="Helvetica Neue"/>
                <a:cs typeface="Helvetica Neue"/>
              </a:rPr>
              <a:t>What is already done</a:t>
            </a:r>
          </a:p>
        </p:txBody>
      </p:sp>
      <p:sp>
        <p:nvSpPr>
          <p:cNvPr id="2" name="">
            <a:extLst xmlns:a="http://schemas.openxmlformats.org/drawingml/2006/main">
              <a:ext uri="{FF2B5EF4-FFF2-40B4-BE49-F238E27FC236}">
                <a16:creationId xmlns:a16="http://schemas.microsoft.com/office/drawing/2014/main" id="{0D174249-8EEA-4780-9336-2F81D6900319}"/>
              </a:ext>
            </a:extLst>
          </p:cNvPr>
          <p:cNvSpPr>
            <a:spLocks xmlns:a="http://schemas.openxmlformats.org/drawingml/2006/main" noGrp="1"/>
          </p:cNvSpPr>
          <p:nvPr/>
        </p:nvSpPr>
        <p:spPr>
          <a:xfrm xmlns:a="http://schemas.openxmlformats.org/drawingml/2006/main">
            <a:off x="11144250"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26673"/>
                </a:solidFill>
                <a:latin typeface="Helvetica Neue"/>
                <a:ea typeface="Helvetica Neue"/>
                <a:cs typeface="Helvetica Neue"/>
              </a:defRPr>
            </a:pPr>
            <a:r>
              <a:rPr sz="1200" b="0">
                <a:solidFill>
                  <a:srgbClr val="526673"/>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5818FBE8-136A-4BC5-89D6-B4CA05DBBCFF}"/>
              </a:ext>
            </a:extLst>
          </p:cNvPr>
          <p:cNvSpPr>
            <a:spLocks xmlns:a="http://schemas.openxmlformats.org/drawingml/2006/main" noGrp="1"/>
          </p:cNvSpPr>
          <p:nvPr/>
        </p:nvSpPr>
        <p:spPr>
          <a:xfrm xmlns:a="http://schemas.openxmlformats.org/drawingml/2006/main">
            <a:off x="685800" y="1562100"/>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Rust translation</a:t>
            </a:r>
          </a:p>
        </p:txBody>
      </p:sp>
      <p:sp>
        <p:nvSpPr>
          <p:cNvPr id="4" name="">
            <a:extLst xmlns:a="http://schemas.openxmlformats.org/drawingml/2006/main">
              <a:ext uri="{FF2B5EF4-FFF2-40B4-BE49-F238E27FC236}">
                <a16:creationId xmlns:a16="http://schemas.microsoft.com/office/drawing/2014/main" id="{CC426D90-AA8B-4938-B2B4-16DEE3B293B5}"/>
              </a:ext>
            </a:extLst>
          </p:cNvPr>
          <p:cNvSpPr>
            <a:spLocks xmlns:a="http://schemas.openxmlformats.org/drawingml/2006/main" noGrp="1"/>
          </p:cNvSpPr>
          <p:nvPr/>
        </p:nvSpPr>
        <p:spPr>
          <a:xfrm xmlns:a="http://schemas.openxmlformats.org/drawingml/2006/main">
            <a:off x="4286250" y="1562100"/>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90 CPU Python exports and 16 helpers.</a:t>
            </a:r>
          </a:p>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Installable package backed by Rust.</a:t>
            </a:r>
          </a:p>
        </p:txBody>
      </p:sp>
      <p:sp>
        <p:nvSpPr>
          <p:cNvPr id="5" name="">
            <a:extLst xmlns:a="http://schemas.openxmlformats.org/drawingml/2006/main">
              <a:ext uri="{FF2B5EF4-FFF2-40B4-BE49-F238E27FC236}">
                <a16:creationId xmlns:a16="http://schemas.microsoft.com/office/drawing/2014/main" id="{DDDB0C61-B086-436E-9BE9-488470AE7809}"/>
              </a:ext>
            </a:extLst>
          </p:cNvPr>
          <p:cNvSpPr>
            <a:spLocks xmlns:a="http://schemas.openxmlformats.org/drawingml/2006/main" noGrp="1"/>
          </p:cNvSpPr>
          <p:nvPr/>
        </p:nvSpPr>
        <p:spPr>
          <a:xfrm xmlns:a="http://schemas.openxmlformats.org/drawingml/2006/main">
            <a:off x="685800" y="2638425"/>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C++20 translation</a:t>
            </a:r>
          </a:p>
        </p:txBody>
      </p:sp>
      <p:sp>
        <p:nvSpPr>
          <p:cNvPr id="6" name="">
            <a:extLst xmlns:a="http://schemas.openxmlformats.org/drawingml/2006/main">
              <a:ext uri="{FF2B5EF4-FFF2-40B4-BE49-F238E27FC236}">
                <a16:creationId xmlns:a16="http://schemas.microsoft.com/office/drawing/2014/main" id="{4B73F987-861A-4D7F-9E2F-D9935A5931FA}"/>
              </a:ext>
            </a:extLst>
          </p:cNvPr>
          <p:cNvSpPr>
            <a:spLocks xmlns:a="http://schemas.openxmlformats.org/drawingml/2006/main" noGrp="1"/>
          </p:cNvSpPr>
          <p:nvPr/>
        </p:nvSpPr>
        <p:spPr>
          <a:xfrm xmlns:a="http://schemas.openxmlformats.org/drawingml/2006/main">
            <a:off x="4286250" y="2638425"/>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90 CPU Python exports and 16 helpers.</a:t>
            </a:r>
          </a:p>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Independent native C++ backend.</a:t>
            </a:r>
          </a:p>
        </p:txBody>
      </p:sp>
      <p:sp>
        <p:nvSpPr>
          <p:cNvPr id="7" name="">
            <a:extLst xmlns:a="http://schemas.openxmlformats.org/drawingml/2006/main">
              <a:ext uri="{FF2B5EF4-FFF2-40B4-BE49-F238E27FC236}">
                <a16:creationId xmlns:a16="http://schemas.microsoft.com/office/drawing/2014/main" id="{46280155-1F92-49AB-B770-E97A413A50FE}"/>
              </a:ext>
            </a:extLst>
          </p:cNvPr>
          <p:cNvSpPr>
            <a:spLocks xmlns:a="http://schemas.openxmlformats.org/drawingml/2006/main" noGrp="1"/>
          </p:cNvSpPr>
          <p:nvPr/>
        </p:nvSpPr>
        <p:spPr>
          <a:xfrm xmlns:a="http://schemas.openxmlformats.org/drawingml/2006/main">
            <a:off x="685800" y="3714750"/>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SymSan comparisons</a:t>
            </a:r>
          </a:p>
        </p:txBody>
      </p:sp>
      <p:sp>
        <p:nvSpPr>
          <p:cNvPr id="8" name="">
            <a:extLst xmlns:a="http://schemas.openxmlformats.org/drawingml/2006/main">
              <a:ext uri="{FF2B5EF4-FFF2-40B4-BE49-F238E27FC236}">
                <a16:creationId xmlns:a16="http://schemas.microsoft.com/office/drawing/2014/main" id="{F4597089-DDD3-4584-ACB2-21C37B74778A}"/>
              </a:ext>
            </a:extLst>
          </p:cNvPr>
          <p:cNvSpPr>
            <a:spLocks xmlns:a="http://schemas.openxmlformats.org/drawingml/2006/main" noGrp="1"/>
          </p:cNvSpPr>
          <p:nvPr/>
        </p:nvSpPr>
        <p:spPr>
          <a:xfrm xmlns:a="http://schemas.openxmlformats.org/drawingml/2006/main">
            <a:off x="4286250" y="3714750"/>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C++20 passed 128 new cases across 23 operations against Einsums and NumPy.</a:t>
            </a:r>
          </a:p>
        </p:txBody>
      </p:sp>
      <p:sp>
        <p:nvSpPr>
          <p:cNvPr id="9" name="">
            <a:extLst xmlns:a="http://schemas.openxmlformats.org/drawingml/2006/main">
              <a:ext uri="{FF2B5EF4-FFF2-40B4-BE49-F238E27FC236}">
                <a16:creationId xmlns:a16="http://schemas.microsoft.com/office/drawing/2014/main" id="{F029C25B-5D4A-428A-B518-2ED3B22BB0D9}"/>
              </a:ext>
            </a:extLst>
          </p:cNvPr>
          <p:cNvSpPr>
            <a:spLocks xmlns:a="http://schemas.openxmlformats.org/drawingml/2006/main" noGrp="1"/>
          </p:cNvSpPr>
          <p:nvPr/>
        </p:nvSpPr>
        <p:spPr>
          <a:xfrm xmlns:a="http://schemas.openxmlformats.org/drawingml/2006/main">
            <a:off x="685800" y="4791075"/>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Formal proofs</a:t>
            </a:r>
          </a:p>
        </p:txBody>
      </p:sp>
      <p:sp>
        <p:nvSpPr>
          <p:cNvPr id="10" name="">
            <a:extLst xmlns:a="http://schemas.openxmlformats.org/drawingml/2006/main">
              <a:ext uri="{FF2B5EF4-FFF2-40B4-BE49-F238E27FC236}">
                <a16:creationId xmlns:a16="http://schemas.microsoft.com/office/drawing/2014/main" id="{849EBB7E-6326-4343-B08F-599B694E0182}"/>
              </a:ext>
            </a:extLst>
          </p:cNvPr>
          <p:cNvSpPr>
            <a:spLocks xmlns:a="http://schemas.openxmlformats.org/drawingml/2006/main" noGrp="1"/>
          </p:cNvSpPr>
          <p:nvPr/>
        </p:nvSpPr>
        <p:spPr>
          <a:xfrm xmlns:a="http://schemas.openxmlformats.org/drawingml/2006/main">
            <a:off x="4286250" y="4791075"/>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Six bounded operations proved in both languages.</a:t>
            </a:r>
          </a:p>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Eligible public calls use those methods.</a:t>
            </a:r>
          </a:p>
        </p:txBody>
      </p:sp>
      <p:sp>
        <p:nvSpPr>
          <p:cNvPr id="11" name="">
            <a:extLst xmlns:a="http://schemas.openxmlformats.org/drawingml/2006/main">
              <a:ext uri="{FF2B5EF4-FFF2-40B4-BE49-F238E27FC236}">
                <a16:creationId xmlns:a16="http://schemas.microsoft.com/office/drawing/2014/main" id="{0A9F5203-9662-4FA1-8BBC-D49B761BB2A2}"/>
              </a:ext>
            </a:extLst>
          </p:cNvPr>
          <p:cNvSpPr>
            <a:spLocks xmlns:a="http://schemas.openxmlformats.org/drawingml/2006/main" noGrp="1"/>
          </p:cNvSpPr>
          <p:nvPr/>
        </p:nvSpPr>
        <p:spPr>
          <a:xfrm xmlns:a="http://schemas.openxmlformats.org/drawingml/2006/main">
            <a:off x="685800" y="597217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526673"/>
                </a:solidFill>
                <a:latin typeface="Helvetica Neue"/>
                <a:ea typeface="Helvetica Neue"/>
                <a:cs typeface="Helvetica Neue"/>
              </a:defRPr>
            </a:pPr>
            <a:r>
              <a:rPr sz="1725" b="0">
                <a:solidFill>
                  <a:srgbClr val="526673"/>
                </a:solidFill>
                <a:latin typeface="Helvetica Neue"/>
                <a:ea typeface="Helvetica Neue"/>
                <a:cs typeface="Helvetica Neue"/>
              </a:rPr>
              <a:t>Both ports implement the CPU/Python surface. Exact library compatibility remains pending.</a:t>
            </a:r>
          </a:p>
        </p:txBody>
      </p:sp>
    </p:spTree>
    <p:extLst>
      <p:ext uri="{BB962C8B-B14F-4D97-AF65-F5344CB8AC3E}">
        <p14:creationId xmlns:p14="http://schemas.microsoft.com/office/powerpoint/2010/main" val="319540436"/>
      </p:ext>
    </p:extLst>
  </p:cSld>
</p:sld>
</file>

<file path=ppt/slides/slide4.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CF239A-F8CF-45E2-A04C-F3978EE18653}"/>
              </a:ext>
            </a:extLst>
          </p:cNvPr>
          <p:cNvSpPr>
            <a:spLocks xmlns:a="http://schemas.openxmlformats.org/drawingml/2006/main" noGrp="1"/>
          </p:cNvSpPr>
          <p:nvPr/>
        </p:nvSpPr>
        <p:spPr>
          <a:xfrm xmlns:a="http://schemas.openxmlformats.org/drawingml/2006/main">
            <a:off x="685800" y="4762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42C3B"/>
                </a:solidFill>
                <a:latin typeface="Helvetica Neue"/>
                <a:ea typeface="Helvetica Neue"/>
                <a:cs typeface="Helvetica Neue"/>
              </a:defRPr>
            </a:pPr>
            <a:r>
              <a:rPr sz="3450" b="1">
                <a:solidFill>
                  <a:srgbClr val="142C3B"/>
                </a:solidFill>
                <a:latin typeface="Helvetica Neue"/>
                <a:ea typeface="Helvetica Neue"/>
                <a:cs typeface="Helvetica Neue"/>
              </a:rPr>
              <a:t>Saved Rust comparison results</a:t>
            </a:r>
          </a:p>
        </p:txBody>
      </p:sp>
      <p:sp>
        <p:nvSpPr>
          <p:cNvPr id="2" name="">
            <a:extLst xmlns:a="http://schemas.openxmlformats.org/drawingml/2006/main">
              <a:ext uri="{FF2B5EF4-FFF2-40B4-BE49-F238E27FC236}">
                <a16:creationId xmlns:a16="http://schemas.microsoft.com/office/drawing/2014/main" id="{16E0244A-ADA9-4026-8DA2-0BCD2364304F}"/>
              </a:ext>
            </a:extLst>
          </p:cNvPr>
          <p:cNvSpPr>
            <a:spLocks xmlns:a="http://schemas.openxmlformats.org/drawingml/2006/main" noGrp="1"/>
          </p:cNvSpPr>
          <p:nvPr/>
        </p:nvSpPr>
        <p:spPr>
          <a:xfrm xmlns:a="http://schemas.openxmlformats.org/drawingml/2006/main">
            <a:off x="11144250"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26673"/>
                </a:solidFill>
                <a:latin typeface="Helvetica Neue"/>
                <a:ea typeface="Helvetica Neue"/>
                <a:cs typeface="Helvetica Neue"/>
              </a:defRPr>
            </a:pPr>
            <a:r>
              <a:rPr sz="1200" b="0">
                <a:solidFill>
                  <a:srgbClr val="526673"/>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0BAAC801-24F3-478E-A0AF-3AAD3D695144}"/>
              </a:ext>
            </a:extLst>
          </p:cNvPr>
          <p:cNvSpPr>
            <a:spLocks xmlns:a="http://schemas.openxmlformats.org/drawingml/2006/main" noGrp="1"/>
          </p:cNvSpPr>
          <p:nvPr/>
        </p:nvSpPr>
        <p:spPr>
          <a:xfrm xmlns:a="http://schemas.openxmlformats.org/drawingml/2006/main">
            <a:off x="685800" y="14763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007F78"/>
                </a:solidFill>
                <a:latin typeface="Helvetica Neue"/>
                <a:ea typeface="Helvetica Neue"/>
                <a:cs typeface="Helvetica Neue"/>
              </a:defRPr>
            </a:pPr>
            <a:r>
              <a:rPr sz="3000" b="1">
                <a:solidFill>
                  <a:srgbClr val="007F78"/>
                </a:solidFill>
                <a:latin typeface="Helvetica Neue"/>
                <a:ea typeface="Helvetica Neue"/>
                <a:cs typeface="Helvetica Neue"/>
              </a:rPr>
              <a:t>128 generated inputs</a:t>
            </a:r>
          </a:p>
        </p:txBody>
      </p:sp>
      <p:sp>
        <p:nvSpPr>
          <p:cNvPr id="4" name="">
            <a:extLst xmlns:a="http://schemas.openxmlformats.org/drawingml/2006/main">
              <a:ext uri="{FF2B5EF4-FFF2-40B4-BE49-F238E27FC236}">
                <a16:creationId xmlns:a16="http://schemas.microsoft.com/office/drawing/2014/main" id="{D17CD0C8-DC9F-4EA5-9D3D-A123BF68345A}"/>
              </a:ext>
            </a:extLst>
          </p:cNvPr>
          <p:cNvSpPr>
            <a:spLocks xmlns:a="http://schemas.openxmlformats.org/drawingml/2006/main" noGrp="1"/>
          </p:cNvSpPr>
          <p:nvPr/>
        </p:nvSpPr>
        <p:spPr>
          <a:xfrm xmlns:a="http://schemas.openxmlformats.org/drawingml/2006/main">
            <a:off x="6048375" y="147637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007F78"/>
                </a:solidFill>
                <a:latin typeface="Helvetica Neue"/>
                <a:ea typeface="Helvetica Neue"/>
                <a:cs typeface="Helvetica Neue"/>
              </a:defRPr>
            </a:pPr>
            <a:r>
              <a:rPr sz="3000" b="1">
                <a:solidFill>
                  <a:srgbClr val="007F78"/>
                </a:solidFill>
                <a:latin typeface="Helvetica Neue"/>
                <a:ea typeface="Helvetica Neue"/>
                <a:cs typeface="Helvetica Neue"/>
              </a:rPr>
              <a:t>15,872 comparison checks</a:t>
            </a:r>
          </a:p>
        </p:txBody>
      </p:sp>
      <p:graphicFrame>
        <p:nvGraphicFramePr>
          <p:cNvPr id="15" name="Chart"/>
          <p:cNvGraphicFramePr/>
          <p:nvPr/>
        </p:nvGraphicFramePr>
        <p:xfrm>
          <a:off xmlns:a="http://schemas.openxmlformats.org/drawingml/2006/main" x="666750" y="2428875"/>
          <a:ext xmlns:a="http://schemas.openxmlformats.org/drawingml/2006/main" cx="10839450" cy="2543175"/>
        </p:xfrm>
        <a:graphic xmlns:a="http://schemas.openxmlformats.org/drawingml/2006/main">
          <a:graphicData uri="http://schemas.openxmlformats.org/drawingml/2006/chart">
            <c:chart xmlns:r="http://schemas.openxmlformats.org/officeDocument/2006/relationships" xmlns:c="http://schemas.openxmlformats.org/drawingml/2006/chart" r:id="Rce3610e8399444b2"/>
          </a:graphicData>
        </a:graphic>
      </p:graphicFrame>
      <p:sp>
        <p:nvSpPr>
          <p:cNvPr id="6" name="">
            <a:extLst xmlns:a="http://schemas.openxmlformats.org/drawingml/2006/main">
              <a:ext uri="{FF2B5EF4-FFF2-40B4-BE49-F238E27FC236}">
                <a16:creationId xmlns:a16="http://schemas.microsoft.com/office/drawing/2014/main" id="{F1208E74-F8FD-4688-AC4B-CBBEA7B2DEB0}"/>
              </a:ext>
            </a:extLst>
          </p:cNvPr>
          <p:cNvSpPr>
            <a:spLocks xmlns:a="http://schemas.openxmlformats.org/drawingml/2006/main" noGrp="1"/>
          </p:cNvSpPr>
          <p:nvPr/>
        </p:nvSpPr>
        <p:spPr>
          <a:xfrm xmlns:a="http://schemas.openxmlformats.org/drawingml/2006/main">
            <a:off x="685800" y="52197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42C3B"/>
                </a:solidFill>
                <a:latin typeface="Helvetica Neue"/>
                <a:ea typeface="Helvetica Neue"/>
                <a:cs typeface="Helvetica Neue"/>
              </a:defRPr>
            </a:pPr>
            <a:r>
              <a:rPr sz="2550" b="1">
                <a:solidFill>
                  <a:srgbClr val="142C3B"/>
                </a:solidFill>
                <a:latin typeface="Helvetica Neue"/>
                <a:ea typeface="Helvetica Neue"/>
                <a:cs typeface="Helvetica Neue"/>
              </a:rPr>
              <a:t>Rust met every numerical check in this replay.</a:t>
            </a:r>
          </a:p>
        </p:txBody>
      </p:sp>
      <p:sp>
        <p:nvSpPr>
          <p:cNvPr id="7" name="">
            <a:extLst xmlns:a="http://schemas.openxmlformats.org/drawingml/2006/main">
              <a:ext uri="{FF2B5EF4-FFF2-40B4-BE49-F238E27FC236}">
                <a16:creationId xmlns:a16="http://schemas.microsoft.com/office/drawing/2014/main" id="{95D3411F-5CF6-497D-87DB-FD60865A72F9}"/>
              </a:ext>
            </a:extLst>
          </p:cNvPr>
          <p:cNvSpPr>
            <a:spLocks xmlns:a="http://schemas.openxmlformats.org/drawingml/2006/main" noGrp="1"/>
          </p:cNvSpPr>
          <p:nvPr/>
        </p:nvSpPr>
        <p:spPr>
          <a:xfrm xmlns:a="http://schemas.openxmlformats.org/drawingml/2006/main">
            <a:off x="685800" y="57340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AB671B"/>
                </a:solidFill>
                <a:latin typeface="Helvetica Neue"/>
                <a:ea typeface="Helvetica Neue"/>
                <a:cs typeface="Helvetica Neue"/>
              </a:defRPr>
            </a:pPr>
            <a:r>
              <a:rPr sz="2100" b="1">
                <a:solidFill>
                  <a:srgbClr val="AB671B"/>
                </a:solidFill>
                <a:latin typeface="Helvetica Neue"/>
                <a:ea typeface="Helvetica Neue"/>
                <a:cs typeface="Helvetica Neue"/>
              </a:rPr>
              <a:t>Full-library compatibility remains incomplete.</a:t>
            </a:r>
          </a:p>
        </p:txBody>
      </p:sp>
      <p:sp>
        <p:nvSpPr>
          <p:cNvPr id="8" name="">
            <a:extLst xmlns:a="http://schemas.openxmlformats.org/drawingml/2006/main">
              <a:ext uri="{FF2B5EF4-FFF2-40B4-BE49-F238E27FC236}">
                <a16:creationId xmlns:a16="http://schemas.microsoft.com/office/drawing/2014/main" id="{2C368467-BB52-45AB-A21D-D37DDF25B9E5}"/>
              </a:ext>
            </a:extLst>
          </p:cNvPr>
          <p:cNvSpPr>
            <a:spLocks xmlns:a="http://schemas.openxmlformats.org/drawingml/2006/main" noGrp="1"/>
          </p:cNvSpPr>
          <p:nvPr/>
        </p:nvSpPr>
        <p:spPr>
          <a:xfrm xmlns:a="http://schemas.openxmlformats.org/drawingml/2006/main">
            <a:off x="685800" y="62579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26673"/>
                </a:solidFill>
                <a:latin typeface="Helvetica Neue"/>
                <a:ea typeface="Helvetica Neue"/>
                <a:cs typeface="Helvetica Neue"/>
              </a:defRPr>
            </a:pPr>
            <a:r>
              <a:rPr sz="1500" b="0">
                <a:solidFill>
                  <a:srgbClr val="526673"/>
                </a:solidFill>
                <a:latin typeface="Helvetica Neue"/>
                <a:ea typeface="Helvetica Neue"/>
                <a:cs typeface="Helvetica Neue"/>
              </a:rPr>
              <a:t>C++20: 128/128 fresh cases pass. API replay: 15,872 checks with 2,056 disagreements.</a:t>
            </a:r>
          </a:p>
        </p:txBody>
      </p:sp>
    </p:spTree>
    <p:extLst>
      <p:ext uri="{BB962C8B-B14F-4D97-AF65-F5344CB8AC3E}">
        <p14:creationId xmlns:p14="http://schemas.microsoft.com/office/powerpoint/2010/main" val="1710049963"/>
      </p:ext>
    </p:extLst>
  </p:cSld>
</p:sld>
</file>

<file path=ppt/slides/slide5.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192868-0282-49C8-8E6C-2C814E1726C3}"/>
              </a:ext>
            </a:extLst>
          </p:cNvPr>
          <p:cNvSpPr>
            <a:spLocks xmlns:a="http://schemas.openxmlformats.org/drawingml/2006/main" noGrp="1"/>
          </p:cNvSpPr>
          <p:nvPr/>
        </p:nvSpPr>
        <p:spPr>
          <a:xfrm xmlns:a="http://schemas.openxmlformats.org/drawingml/2006/main">
            <a:off x="685800" y="4762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42C3B"/>
                </a:solidFill>
                <a:latin typeface="Helvetica Neue"/>
                <a:ea typeface="Helvetica Neue"/>
                <a:cs typeface="Helvetica Neue"/>
              </a:defRPr>
            </a:pPr>
            <a:r>
              <a:rPr sz="3450" b="1">
                <a:solidFill>
                  <a:srgbClr val="142C3B"/>
                </a:solidFill>
                <a:latin typeface="Helvetica Neue"/>
                <a:ea typeface="Helvetica Neue"/>
                <a:cs typeface="Helvetica Neue"/>
              </a:rPr>
              <a:t>What is still pending</a:t>
            </a:r>
          </a:p>
        </p:txBody>
      </p:sp>
      <p:sp>
        <p:nvSpPr>
          <p:cNvPr id="2" name="">
            <a:extLst xmlns:a="http://schemas.openxmlformats.org/drawingml/2006/main">
              <a:ext uri="{FF2B5EF4-FFF2-40B4-BE49-F238E27FC236}">
                <a16:creationId xmlns:a16="http://schemas.microsoft.com/office/drawing/2014/main" id="{AE508FF3-5452-4404-8207-3B6D753ED42F}"/>
              </a:ext>
            </a:extLst>
          </p:cNvPr>
          <p:cNvSpPr>
            <a:spLocks xmlns:a="http://schemas.openxmlformats.org/drawingml/2006/main" noGrp="1"/>
          </p:cNvSpPr>
          <p:nvPr/>
        </p:nvSpPr>
        <p:spPr>
          <a:xfrm xmlns:a="http://schemas.openxmlformats.org/drawingml/2006/main">
            <a:off x="11144250"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26673"/>
                </a:solidFill>
                <a:latin typeface="Helvetica Neue"/>
                <a:ea typeface="Helvetica Neue"/>
                <a:cs typeface="Helvetica Neue"/>
              </a:defRPr>
            </a:pPr>
            <a:r>
              <a:rPr sz="1200" b="0">
                <a:solidFill>
                  <a:srgbClr val="526673"/>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32B89E72-A6E1-4B27-933D-5F50EFA792FE}"/>
              </a:ext>
            </a:extLst>
          </p:cNvPr>
          <p:cNvSpPr>
            <a:spLocks xmlns:a="http://schemas.openxmlformats.org/drawingml/2006/main" noGrp="1"/>
          </p:cNvSpPr>
          <p:nvPr/>
        </p:nvSpPr>
        <p:spPr>
          <a:xfrm xmlns:a="http://schemas.openxmlformats.org/drawingml/2006/main">
            <a:off x="685800" y="1657350"/>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AB671B"/>
                </a:solidFill>
                <a:latin typeface="Helvetica Neue"/>
                <a:ea typeface="Helvetica Neue"/>
                <a:cs typeface="Helvetica Neue"/>
              </a:defRPr>
            </a:pPr>
            <a:r>
              <a:rPr sz="2325" b="1">
                <a:solidFill>
                  <a:srgbClr val="AB671B"/>
                </a:solidFill>
                <a:latin typeface="Helvetica Neue"/>
                <a:ea typeface="Helvetica Neue"/>
                <a:cs typeface="Helvetica Neue"/>
              </a:rPr>
              <a:t>Compatibility review</a:t>
            </a:r>
          </a:p>
        </p:txBody>
      </p:sp>
      <p:sp>
        <p:nvSpPr>
          <p:cNvPr id="4" name="">
            <a:extLst xmlns:a="http://schemas.openxmlformats.org/drawingml/2006/main">
              <a:ext uri="{FF2B5EF4-FFF2-40B4-BE49-F238E27FC236}">
                <a16:creationId xmlns:a16="http://schemas.microsoft.com/office/drawing/2014/main" id="{57D21391-F2DA-4DED-B0A0-05F47FF32C66}"/>
              </a:ext>
            </a:extLst>
          </p:cNvPr>
          <p:cNvSpPr>
            <a:spLocks xmlns:a="http://schemas.openxmlformats.org/drawingml/2006/main" noGrp="1"/>
          </p:cNvSpPr>
          <p:nvPr/>
        </p:nvSpPr>
        <p:spPr>
          <a:xfrm xmlns:a="http://schemas.openxmlformats.org/drawingml/2006/main">
            <a:off x="4286250" y="1657350"/>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Review 2,062 Rust and 2,056 C++ replay disagreements against agreed contracts.</a:t>
            </a:r>
          </a:p>
        </p:txBody>
      </p:sp>
      <p:sp>
        <p:nvSpPr>
          <p:cNvPr id="5" name="">
            <a:extLst xmlns:a="http://schemas.openxmlformats.org/drawingml/2006/main">
              <a:ext uri="{FF2B5EF4-FFF2-40B4-BE49-F238E27FC236}">
                <a16:creationId xmlns:a16="http://schemas.microsoft.com/office/drawing/2014/main" id="{164080C8-F209-4D01-B750-2572844BC939}"/>
              </a:ext>
            </a:extLst>
          </p:cNvPr>
          <p:cNvSpPr>
            <a:spLocks xmlns:a="http://schemas.openxmlformats.org/drawingml/2006/main" noGrp="1"/>
          </p:cNvSpPr>
          <p:nvPr/>
        </p:nvSpPr>
        <p:spPr>
          <a:xfrm xmlns:a="http://schemas.openxmlformats.org/drawingml/2006/main">
            <a:off x="685800" y="2771775"/>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AB671B"/>
                </a:solidFill>
                <a:latin typeface="Helvetica Neue"/>
                <a:ea typeface="Helvetica Neue"/>
                <a:cs typeface="Helvetica Neue"/>
              </a:defRPr>
            </a:pPr>
            <a:r>
              <a:rPr sz="2325" b="1">
                <a:solidFill>
                  <a:srgbClr val="AB671B"/>
                </a:solidFill>
                <a:latin typeface="Helvetica Neue"/>
                <a:ea typeface="Helvetica Neue"/>
                <a:cs typeface="Helvetica Neue"/>
              </a:rPr>
              <a:t>Proof coverage</a:t>
            </a:r>
          </a:p>
        </p:txBody>
      </p:sp>
      <p:sp>
        <p:nvSpPr>
          <p:cNvPr id="6" name="">
            <a:extLst xmlns:a="http://schemas.openxmlformats.org/drawingml/2006/main">
              <a:ext uri="{FF2B5EF4-FFF2-40B4-BE49-F238E27FC236}">
                <a16:creationId xmlns:a16="http://schemas.microsoft.com/office/drawing/2014/main" id="{2C00AC39-5FED-478A-B6B3-3F42BF1CE732}"/>
              </a:ext>
            </a:extLst>
          </p:cNvPr>
          <p:cNvSpPr>
            <a:spLocks xmlns:a="http://schemas.openxmlformats.org/drawingml/2006/main" noGrp="1"/>
          </p:cNvSpPr>
          <p:nvPr/>
        </p:nvSpPr>
        <p:spPr>
          <a:xfrm xmlns:a="http://schemas.openxmlformats.org/drawingml/2006/main">
            <a:off x="4286250" y="2771775"/>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Extend proofs to larger sizes, other dtypes and upstream BLAS.</a:t>
            </a:r>
          </a:p>
        </p:txBody>
      </p:sp>
      <p:sp>
        <p:nvSpPr>
          <p:cNvPr id="7" name="">
            <a:extLst xmlns:a="http://schemas.openxmlformats.org/drawingml/2006/main">
              <a:ext uri="{FF2B5EF4-FFF2-40B4-BE49-F238E27FC236}">
                <a16:creationId xmlns:a16="http://schemas.microsoft.com/office/drawing/2014/main" id="{F3A63A41-6E66-4352-BD2B-BDCCBBF889DB}"/>
              </a:ext>
            </a:extLst>
          </p:cNvPr>
          <p:cNvSpPr>
            <a:spLocks xmlns:a="http://schemas.openxmlformats.org/drawingml/2006/main" noGrp="1"/>
          </p:cNvSpPr>
          <p:nvPr/>
        </p:nvSpPr>
        <p:spPr>
          <a:xfrm xmlns:a="http://schemas.openxmlformats.org/drawingml/2006/main">
            <a:off x="685800" y="3886200"/>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AB671B"/>
                </a:solidFill>
                <a:latin typeface="Helvetica Neue"/>
                <a:ea typeface="Helvetica Neue"/>
                <a:cs typeface="Helvetica Neue"/>
              </a:defRPr>
            </a:pPr>
            <a:r>
              <a:rPr sz="2325" b="1">
                <a:solidFill>
                  <a:srgbClr val="AB671B"/>
                </a:solidFill>
                <a:latin typeface="Helvetica Neue"/>
                <a:ea typeface="Helvetica Neue"/>
                <a:cs typeface="Helvetica Neue"/>
              </a:rPr>
              <a:t>Remaining behaviors</a:t>
            </a:r>
          </a:p>
        </p:txBody>
      </p:sp>
      <p:sp>
        <p:nvSpPr>
          <p:cNvPr id="8" name="">
            <a:extLst xmlns:a="http://schemas.openxmlformats.org/drawingml/2006/main">
              <a:ext uri="{FF2B5EF4-FFF2-40B4-BE49-F238E27FC236}">
                <a16:creationId xmlns:a16="http://schemas.microsoft.com/office/drawing/2014/main" id="{63F5F0FF-1D2F-464C-B325-BF46715A5DFD}"/>
              </a:ext>
            </a:extLst>
          </p:cNvPr>
          <p:cNvSpPr>
            <a:spLocks xmlns:a="http://schemas.openxmlformats.org/drawingml/2006/main" noGrp="1"/>
          </p:cNvSpPr>
          <p:nvPr/>
        </p:nvSpPr>
        <p:spPr>
          <a:xfrm xmlns:a="http://schemas.openxmlformats.org/drawingml/2006/main">
            <a:off x="4286250" y="3886200"/>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Vary numerical inputs, explore computation paths and automate further translation.</a:t>
            </a:r>
          </a:p>
        </p:txBody>
      </p:sp>
      <p:sp>
        <p:nvSpPr>
          <p:cNvPr id="9" name="">
            <a:extLst xmlns:a="http://schemas.openxmlformats.org/drawingml/2006/main">
              <a:ext uri="{FF2B5EF4-FFF2-40B4-BE49-F238E27FC236}">
                <a16:creationId xmlns:a16="http://schemas.microsoft.com/office/drawing/2014/main" id="{063F2AA7-6D2A-4E66-98E2-974C734887B3}"/>
              </a:ext>
            </a:extLst>
          </p:cNvPr>
          <p:cNvSpPr>
            <a:spLocks xmlns:a="http://schemas.openxmlformats.org/drawingml/2006/main" noGrp="1"/>
          </p:cNvSpPr>
          <p:nvPr/>
        </p:nvSpPr>
        <p:spPr>
          <a:xfrm xmlns:a="http://schemas.openxmlformats.org/drawingml/2006/main">
            <a:off x="685800" y="5000625"/>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AB671B"/>
                </a:solidFill>
                <a:latin typeface="Helvetica Neue"/>
                <a:ea typeface="Helvetica Neue"/>
                <a:cs typeface="Helvetica Neue"/>
              </a:defRPr>
            </a:pPr>
            <a:r>
              <a:rPr sz="2325" b="1">
                <a:solidFill>
                  <a:srgbClr val="AB671B"/>
                </a:solidFill>
                <a:latin typeface="Helvetica Neue"/>
                <a:ea typeface="Helvetica Neue"/>
                <a:cs typeface="Helvetica Neue"/>
              </a:rPr>
              <a:t>Real application use</a:t>
            </a:r>
          </a:p>
        </p:txBody>
      </p:sp>
      <p:sp>
        <p:nvSpPr>
          <p:cNvPr id="10" name="">
            <a:extLst xmlns:a="http://schemas.openxmlformats.org/drawingml/2006/main">
              <a:ext uri="{FF2B5EF4-FFF2-40B4-BE49-F238E27FC236}">
                <a16:creationId xmlns:a16="http://schemas.microsoft.com/office/drawing/2014/main" id="{C942DDEC-0C04-40B4-B9D6-F6FC955FB31C}"/>
              </a:ext>
            </a:extLst>
          </p:cNvPr>
          <p:cNvSpPr>
            <a:spLocks xmlns:a="http://schemas.openxmlformats.org/drawingml/2006/main" noGrp="1"/>
          </p:cNvSpPr>
          <p:nvPr/>
        </p:nvSpPr>
        <p:spPr>
          <a:xfrm xmlns:a="http://schemas.openxmlformats.org/drawingml/2006/main">
            <a:off x="4286250" y="5000625"/>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Check Psi4 integration and measure performance against the original library.</a:t>
            </a:r>
          </a:p>
        </p:txBody>
      </p:sp>
    </p:spTree>
    <p:extLst>
      <p:ext uri="{BB962C8B-B14F-4D97-AF65-F5344CB8AC3E}">
        <p14:creationId xmlns:p14="http://schemas.microsoft.com/office/powerpoint/2010/main" val="553745583"/>
      </p:ext>
    </p:extLst>
  </p:cSld>
</p:sld>
</file>

<file path=ppt/slides/slide6.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8C0F4A-7653-4BAC-A5CE-895D1E56E9DF}"/>
              </a:ext>
            </a:extLst>
          </p:cNvPr>
          <p:cNvSpPr>
            <a:spLocks xmlns:a="http://schemas.openxmlformats.org/drawingml/2006/main" noGrp="1"/>
          </p:cNvSpPr>
          <p:nvPr/>
        </p:nvSpPr>
        <p:spPr>
          <a:xfrm xmlns:a="http://schemas.openxmlformats.org/drawingml/2006/main">
            <a:off x="685800" y="4762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42C3B"/>
                </a:solidFill>
                <a:latin typeface="Helvetica Neue"/>
                <a:ea typeface="Helvetica Neue"/>
                <a:cs typeface="Helvetica Neue"/>
              </a:defRPr>
            </a:pPr>
            <a:r>
              <a:rPr sz="3450" b="1">
                <a:solidFill>
                  <a:srgbClr val="142C3B"/>
                </a:solidFill>
                <a:latin typeface="Helvetica Neue"/>
                <a:ea typeface="Helvetica Neue"/>
                <a:cs typeface="Helvetica Neue"/>
              </a:rPr>
              <a:t>Completed checks and proof limits</a:t>
            </a:r>
          </a:p>
        </p:txBody>
      </p:sp>
      <p:sp>
        <p:nvSpPr>
          <p:cNvPr id="2" name="">
            <a:extLst xmlns:a="http://schemas.openxmlformats.org/drawingml/2006/main">
              <a:ext uri="{FF2B5EF4-FFF2-40B4-BE49-F238E27FC236}">
                <a16:creationId xmlns:a16="http://schemas.microsoft.com/office/drawing/2014/main" id="{34A56D96-57F8-457C-8FFD-DDB18AF4C62D}"/>
              </a:ext>
            </a:extLst>
          </p:cNvPr>
          <p:cNvSpPr>
            <a:spLocks xmlns:a="http://schemas.openxmlformats.org/drawingml/2006/main" noGrp="1"/>
          </p:cNvSpPr>
          <p:nvPr/>
        </p:nvSpPr>
        <p:spPr>
          <a:xfrm xmlns:a="http://schemas.openxmlformats.org/drawingml/2006/main">
            <a:off x="11144250"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26673"/>
                </a:solidFill>
                <a:latin typeface="Helvetica Neue"/>
                <a:ea typeface="Helvetica Neue"/>
                <a:cs typeface="Helvetica Neue"/>
              </a:defRPr>
            </a:pPr>
            <a:r>
              <a:rPr sz="1200" b="0">
                <a:solidFill>
                  <a:srgbClr val="526673"/>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420AB8FB-1D8C-4E8E-97A7-F88F82951C82}"/>
              </a:ext>
            </a:extLst>
          </p:cNvPr>
          <p:cNvSpPr>
            <a:spLocks xmlns:a="http://schemas.openxmlformats.org/drawingml/2006/main" noGrp="1"/>
          </p:cNvSpPr>
          <p:nvPr/>
        </p:nvSpPr>
        <p:spPr>
          <a:xfrm xmlns:a="http://schemas.openxmlformats.org/drawingml/2006/main">
            <a:off x="685800" y="16573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AB671B"/>
                </a:solidFill>
                <a:latin typeface="Helvetica Neue"/>
                <a:ea typeface="Helvetica Neue"/>
                <a:cs typeface="Helvetica Neue"/>
              </a:defRPr>
            </a:pPr>
            <a:r>
              <a:rPr sz="2850" b="1">
                <a:solidFill>
                  <a:srgbClr val="AB671B"/>
                </a:solidFill>
                <a:latin typeface="Helvetica Neue"/>
                <a:ea typeface="Helvetica Neue"/>
                <a:cs typeface="Helvetica Neue"/>
              </a:rPr>
              <a:t>Implementation checks</a:t>
            </a:r>
          </a:p>
        </p:txBody>
      </p:sp>
      <p:sp>
        <p:nvSpPr>
          <p:cNvPr id="4" name="">
            <a:extLst xmlns:a="http://schemas.openxmlformats.org/drawingml/2006/main">
              <a:ext uri="{FF2B5EF4-FFF2-40B4-BE49-F238E27FC236}">
                <a16:creationId xmlns:a16="http://schemas.microsoft.com/office/drawing/2014/main" id="{35760024-EAD7-4D1B-8696-71229088FAE0}"/>
              </a:ext>
            </a:extLst>
          </p:cNvPr>
          <p:cNvSpPr>
            <a:spLocks xmlns:a="http://schemas.openxmlformats.org/drawingml/2006/main" noGrp="1"/>
          </p:cNvSpPr>
          <p:nvPr/>
        </p:nvSpPr>
        <p:spPr>
          <a:xfrm xmlns:a="http://schemas.openxmlformats.org/drawingml/2006/main">
            <a:off x="685800" y="2409825"/>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142C3B"/>
                </a:solidFill>
                <a:latin typeface="Helvetica Neue"/>
                <a:ea typeface="Helvetica Neue"/>
                <a:cs typeface="Helvetica Neue"/>
              </a:defRPr>
            </a:pPr>
            <a:r>
              <a:rPr sz="2475" b="0">
                <a:solidFill>
                  <a:srgbClr val="142C3B"/>
                </a:solidFill>
                <a:latin typeface="Helvetica Neue"/>
                <a:ea typeface="Helvetica Neue"/>
                <a:cs typeface="Helvetica Neue"/>
              </a:rPr>
              <a:t>129 project tests passed.</a:t>
            </a:r>
          </a:p>
          <a:p xmlns:a="http://schemas.openxmlformats.org/drawingml/2006/main">
            <a:pPr>
              <a:buNone/>
              <a:defRPr sz="2475" b="0">
                <a:solidFill>
                  <a:srgbClr val="142C3B"/>
                </a:solidFill>
                <a:latin typeface="Helvetica Neue"/>
                <a:ea typeface="Helvetica Neue"/>
                <a:cs typeface="Helvetica Neue"/>
              </a:defRPr>
            </a:pPr>
            <a:r>
              <a:rPr sz="2475" b="0">
                <a:solidFill>
                  <a:srgbClr val="142C3B"/>
                </a:solidFill>
                <a:latin typeface="Helvetica Neue"/>
                <a:ea typeface="Helvetica Neue"/>
                <a:cs typeface="Helvetica Neue"/>
              </a:rPr>
              <a:t>C++20 passed 4,416 native cases and sanitizer checks.</a:t>
            </a:r>
          </a:p>
        </p:txBody>
      </p:sp>
      <p:sp>
        <p:nvSpPr>
          <p:cNvPr id="5" name="">
            <a:extLst xmlns:a="http://schemas.openxmlformats.org/drawingml/2006/main">
              <a:ext uri="{FF2B5EF4-FFF2-40B4-BE49-F238E27FC236}">
                <a16:creationId xmlns:a16="http://schemas.microsoft.com/office/drawing/2014/main" id="{4E51CD07-4FD0-4F1F-9D54-EF86C908CA46}"/>
              </a:ext>
            </a:extLst>
          </p:cNvPr>
          <p:cNvSpPr>
            <a:spLocks xmlns:a="http://schemas.openxmlformats.org/drawingml/2006/main" noGrp="1"/>
          </p:cNvSpPr>
          <p:nvPr/>
        </p:nvSpPr>
        <p:spPr>
          <a:xfrm xmlns:a="http://schemas.openxmlformats.org/drawingml/2006/main">
            <a:off x="685800" y="40386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007F78"/>
                </a:solidFill>
                <a:latin typeface="Helvetica Neue"/>
                <a:ea typeface="Helvetica Neue"/>
                <a:cs typeface="Helvetica Neue"/>
              </a:defRPr>
            </a:pPr>
            <a:r>
              <a:rPr sz="2850" b="1">
                <a:solidFill>
                  <a:srgbClr val="007F78"/>
                </a:solidFill>
                <a:latin typeface="Helvetica Neue"/>
                <a:ea typeface="Helvetica Neue"/>
                <a:cs typeface="Helvetica Neue"/>
              </a:rPr>
              <a:t>Six operations proved and connected</a:t>
            </a:r>
          </a:p>
        </p:txBody>
      </p:sp>
      <p:sp>
        <p:nvSpPr>
          <p:cNvPr id="6" name="">
            <a:extLst xmlns:a="http://schemas.openxmlformats.org/drawingml/2006/main">
              <a:ext uri="{FF2B5EF4-FFF2-40B4-BE49-F238E27FC236}">
                <a16:creationId xmlns:a16="http://schemas.microsoft.com/office/drawing/2014/main" id="{1424FA21-FB6F-4B1E-AD9D-4661274DFF4A}"/>
              </a:ext>
            </a:extLst>
          </p:cNvPr>
          <p:cNvSpPr>
            <a:spLocks xmlns:a="http://schemas.openxmlformats.org/drawingml/2006/main" noGrp="1"/>
          </p:cNvSpPr>
          <p:nvPr/>
        </p:nvSpPr>
        <p:spPr>
          <a:xfrm xmlns:a="http://schemas.openxmlformats.org/drawingml/2006/main">
            <a:off x="685800" y="4791075"/>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142C3B"/>
                </a:solidFill>
                <a:latin typeface="Helvetica Neue"/>
                <a:ea typeface="Helvetica Neue"/>
                <a:cs typeface="Helvetica Neue"/>
              </a:defRPr>
            </a:pPr>
            <a:r>
              <a:rPr sz="2475" b="0">
                <a:solidFill>
                  <a:srgbClr val="142C3B"/>
                </a:solidFill>
                <a:latin typeface="Helvetica Neue"/>
                <a:ea typeface="Helvetica Neue"/>
                <a:cs typeface="Helvetica Neue"/>
              </a:rPr>
              <a:t>Copy, add, multiply, transpose, matmul and scale.</a:t>
            </a:r>
          </a:p>
          <a:p xmlns:a="http://schemas.openxmlformats.org/drawingml/2006/main">
            <a:pPr>
              <a:buNone/>
              <a:defRPr sz="2475" b="0">
                <a:solidFill>
                  <a:srgbClr val="142C3B"/>
                </a:solidFill>
                <a:latin typeface="Helvetica Neue"/>
                <a:ea typeface="Helvetica Neue"/>
                <a:cs typeface="Helvetica Neue"/>
              </a:defRPr>
            </a:pPr>
            <a:r>
              <a:rPr sz="2475" b="0">
                <a:solidFill>
                  <a:srgbClr val="142C3B"/>
                </a:solidFill>
                <a:latin typeface="Helvetica Neue"/>
                <a:ea typeface="Helvetica Neue"/>
                <a:cs typeface="Helvetica Neue"/>
              </a:rPr>
              <a:t>144 proof obligations per language. Eligible public calls use that code.</a:t>
            </a:r>
          </a:p>
          <a:p xmlns:a="http://schemas.openxmlformats.org/drawingml/2006/main">
            <a:pPr>
              <a:buNone/>
              <a:defRPr sz="2475" b="0">
                <a:solidFill>
                  <a:srgbClr val="142C3B"/>
                </a:solidFill>
                <a:latin typeface="Helvetica Neue"/>
                <a:ea typeface="Helvetica Neue"/>
                <a:cs typeface="Helvetica Neue"/>
              </a:defRPr>
            </a:pPr>
            <a:r>
              <a:rPr sz="2475" b="0">
                <a:solidFill>
                  <a:srgbClr val="142C3B"/>
                </a:solidFill>
                <a:latin typeface="Helvetica Neue"/>
                <a:ea typeface="Helvetica Neue"/>
                <a:cs typeface="Helvetica Neue"/>
              </a:rPr>
              <a:t>Bounds: float64, dimensions 1–4, signed-byte values / 8.</a:t>
            </a:r>
          </a:p>
        </p:txBody>
      </p:sp>
    </p:spTree>
    <p:extLst>
      <p:ext uri="{BB962C8B-B14F-4D97-AF65-F5344CB8AC3E}">
        <p14:creationId xmlns:p14="http://schemas.microsoft.com/office/powerpoint/2010/main" val="2043995257"/>
      </p:ext>
    </p:extLst>
  </p:cSld>
</p:sld>
</file>

<file path=ppt/slides/slide7.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328E6D1-0A2D-462E-94A5-17B47C4021AC}"/>
              </a:ext>
            </a:extLst>
          </p:cNvPr>
          <p:cNvSpPr>
            <a:spLocks xmlns:a="http://schemas.openxmlformats.org/drawingml/2006/main" noGrp="1"/>
          </p:cNvSpPr>
          <p:nvPr/>
        </p:nvSpPr>
        <p:spPr>
          <a:xfrm xmlns:a="http://schemas.openxmlformats.org/drawingml/2006/main">
            <a:off x="685800" y="4762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42C3B"/>
                </a:solidFill>
                <a:latin typeface="Helvetica Neue"/>
                <a:ea typeface="Helvetica Neue"/>
                <a:cs typeface="Helvetica Neue"/>
              </a:defRPr>
            </a:pPr>
            <a:r>
              <a:rPr sz="3450" b="1">
                <a:solidFill>
                  <a:srgbClr val="142C3B"/>
                </a:solidFill>
                <a:latin typeface="Helvetica Neue"/>
                <a:ea typeface="Helvetica Neue"/>
                <a:cs typeface="Helvetica Neue"/>
              </a:rPr>
              <a:t>Proposed next milestones</a:t>
            </a:r>
          </a:p>
        </p:txBody>
      </p:sp>
      <p:sp>
        <p:nvSpPr>
          <p:cNvPr id="2" name="">
            <a:extLst xmlns:a="http://schemas.openxmlformats.org/drawingml/2006/main">
              <a:ext uri="{FF2B5EF4-FFF2-40B4-BE49-F238E27FC236}">
                <a16:creationId xmlns:a16="http://schemas.microsoft.com/office/drawing/2014/main" id="{B14F677F-BDFE-4D41-B823-04C511019D72}"/>
              </a:ext>
            </a:extLst>
          </p:cNvPr>
          <p:cNvSpPr>
            <a:spLocks xmlns:a="http://schemas.openxmlformats.org/drawingml/2006/main" noGrp="1"/>
          </p:cNvSpPr>
          <p:nvPr/>
        </p:nvSpPr>
        <p:spPr>
          <a:xfrm xmlns:a="http://schemas.openxmlformats.org/drawingml/2006/main">
            <a:off x="11144250" y="64103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26673"/>
                </a:solidFill>
                <a:latin typeface="Helvetica Neue"/>
                <a:ea typeface="Helvetica Neue"/>
                <a:cs typeface="Helvetica Neue"/>
              </a:defRPr>
            </a:pPr>
            <a:r>
              <a:rPr sz="1200" b="0">
                <a:solidFill>
                  <a:srgbClr val="526673"/>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7099D677-88C9-4532-8BFE-62654EDB76E2}"/>
              </a:ext>
            </a:extLst>
          </p:cNvPr>
          <p:cNvSpPr>
            <a:spLocks xmlns:a="http://schemas.openxmlformats.org/drawingml/2006/main" noGrp="1"/>
          </p:cNvSpPr>
          <p:nvPr/>
        </p:nvSpPr>
        <p:spPr>
          <a:xfrm xmlns:a="http://schemas.openxmlformats.org/drawingml/2006/main">
            <a:off x="685800" y="1619250"/>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1  Shared contracts</a:t>
            </a:r>
          </a:p>
        </p:txBody>
      </p:sp>
      <p:sp>
        <p:nvSpPr>
          <p:cNvPr id="4" name="">
            <a:extLst xmlns:a="http://schemas.openxmlformats.org/drawingml/2006/main">
              <a:ext uri="{FF2B5EF4-FFF2-40B4-BE49-F238E27FC236}">
                <a16:creationId xmlns:a16="http://schemas.microsoft.com/office/drawing/2014/main" id="{D09AD7A1-D125-435A-9168-5347D1864563}"/>
              </a:ext>
            </a:extLst>
          </p:cNvPr>
          <p:cNvSpPr>
            <a:spLocks xmlns:a="http://schemas.openxmlformats.org/drawingml/2006/main" noGrp="1"/>
          </p:cNvSpPr>
          <p:nvPr/>
        </p:nvSpPr>
        <p:spPr>
          <a:xfrm xmlns:a="http://schemas.openxmlformats.org/drawingml/2006/main">
            <a:off x="4286250" y="1619250"/>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Classify disagreements and agree on behavior for both ports.</a:t>
            </a:r>
          </a:p>
        </p:txBody>
      </p:sp>
      <p:sp>
        <p:nvSpPr>
          <p:cNvPr id="5" name="">
            <a:extLst xmlns:a="http://schemas.openxmlformats.org/drawingml/2006/main">
              <a:ext uri="{FF2B5EF4-FFF2-40B4-BE49-F238E27FC236}">
                <a16:creationId xmlns:a16="http://schemas.microsoft.com/office/drawing/2014/main" id="{4604A35D-9D4D-4F5F-8543-A151025A2CD7}"/>
              </a:ext>
            </a:extLst>
          </p:cNvPr>
          <p:cNvSpPr>
            <a:spLocks xmlns:a="http://schemas.openxmlformats.org/drawingml/2006/main" noGrp="1"/>
          </p:cNvSpPr>
          <p:nvPr/>
        </p:nvSpPr>
        <p:spPr>
          <a:xfrm xmlns:a="http://schemas.openxmlformats.org/drawingml/2006/main">
            <a:off x="685800" y="2714625"/>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2  Calling contracts</a:t>
            </a:r>
          </a:p>
        </p:txBody>
      </p:sp>
      <p:sp>
        <p:nvSpPr>
          <p:cNvPr id="6" name="">
            <a:extLst xmlns:a="http://schemas.openxmlformats.org/drawingml/2006/main">
              <a:ext uri="{FF2B5EF4-FFF2-40B4-BE49-F238E27FC236}">
                <a16:creationId xmlns:a16="http://schemas.microsoft.com/office/drawing/2014/main" id="{BD206134-85A7-4938-85D4-A11EDE445BBD}"/>
              </a:ext>
            </a:extLst>
          </p:cNvPr>
          <p:cNvSpPr>
            <a:spLocks xmlns:a="http://schemas.openxmlformats.org/drawingml/2006/main" noGrp="1"/>
          </p:cNvSpPr>
          <p:nvPr/>
        </p:nvSpPr>
        <p:spPr>
          <a:xfrm xmlns:a="http://schemas.openxmlformats.org/drawingml/2006/main">
            <a:off x="4286250" y="2714625"/>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Check complete calling behavior, C++ overloads and installation contracts.</a:t>
            </a:r>
          </a:p>
        </p:txBody>
      </p:sp>
      <p:sp>
        <p:nvSpPr>
          <p:cNvPr id="7" name="">
            <a:extLst xmlns:a="http://schemas.openxmlformats.org/drawingml/2006/main">
              <a:ext uri="{FF2B5EF4-FFF2-40B4-BE49-F238E27FC236}">
                <a16:creationId xmlns:a16="http://schemas.microsoft.com/office/drawing/2014/main" id="{D2C09F04-3819-4C61-BD9C-C261884D637D}"/>
              </a:ext>
            </a:extLst>
          </p:cNvPr>
          <p:cNvSpPr>
            <a:spLocks xmlns:a="http://schemas.openxmlformats.org/drawingml/2006/main" noGrp="1"/>
          </p:cNvSpPr>
          <p:nvPr/>
        </p:nvSpPr>
        <p:spPr>
          <a:xfrm xmlns:a="http://schemas.openxmlformats.org/drawingml/2006/main">
            <a:off x="685800" y="3810000"/>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3  Broader verification</a:t>
            </a:r>
          </a:p>
        </p:txBody>
      </p:sp>
      <p:sp>
        <p:nvSpPr>
          <p:cNvPr id="8" name="">
            <a:extLst xmlns:a="http://schemas.openxmlformats.org/drawingml/2006/main">
              <a:ext uri="{FF2B5EF4-FFF2-40B4-BE49-F238E27FC236}">
                <a16:creationId xmlns:a16="http://schemas.microsoft.com/office/drawing/2014/main" id="{77DD6F8D-CDD7-42E9-A6F4-ACBEB7A1C91F}"/>
              </a:ext>
            </a:extLst>
          </p:cNvPr>
          <p:cNvSpPr>
            <a:spLocks xmlns:a="http://schemas.openxmlformats.org/drawingml/2006/main" noGrp="1"/>
          </p:cNvSpPr>
          <p:nvPr/>
        </p:nvSpPr>
        <p:spPr>
          <a:xfrm xmlns:a="http://schemas.openxmlformats.org/drawingml/2006/main">
            <a:off x="4286250" y="3810000"/>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Prove adapters. Extend shapes and dtypes.</a:t>
            </a:r>
          </a:p>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Verify upstream BLAS contracts.</a:t>
            </a:r>
          </a:p>
        </p:txBody>
      </p:sp>
      <p:sp>
        <p:nvSpPr>
          <p:cNvPr id="9" name="">
            <a:extLst xmlns:a="http://schemas.openxmlformats.org/drawingml/2006/main">
              <a:ext uri="{FF2B5EF4-FFF2-40B4-BE49-F238E27FC236}">
                <a16:creationId xmlns:a16="http://schemas.microsoft.com/office/drawing/2014/main" id="{594C405C-2D82-43BE-A91C-6BDDEB75C4A3}"/>
              </a:ext>
            </a:extLst>
          </p:cNvPr>
          <p:cNvSpPr>
            <a:spLocks xmlns:a="http://schemas.openxmlformats.org/drawingml/2006/main" noGrp="1"/>
          </p:cNvSpPr>
          <p:nvPr/>
        </p:nvSpPr>
        <p:spPr>
          <a:xfrm xmlns:a="http://schemas.openxmlformats.org/drawingml/2006/main">
            <a:off x="685800" y="4905375"/>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4  Application validation</a:t>
            </a:r>
          </a:p>
        </p:txBody>
      </p:sp>
      <p:sp>
        <p:nvSpPr>
          <p:cNvPr id="10" name="">
            <a:extLst xmlns:a="http://schemas.openxmlformats.org/drawingml/2006/main">
              <a:ext uri="{FF2B5EF4-FFF2-40B4-BE49-F238E27FC236}">
                <a16:creationId xmlns:a16="http://schemas.microsoft.com/office/drawing/2014/main" id="{F12DB7A2-F74C-43F6-BE63-177E1C892CCB}"/>
              </a:ext>
            </a:extLst>
          </p:cNvPr>
          <p:cNvSpPr>
            <a:spLocks xmlns:a="http://schemas.openxmlformats.org/drawingml/2006/main" noGrp="1"/>
          </p:cNvSpPr>
          <p:nvPr/>
        </p:nvSpPr>
        <p:spPr>
          <a:xfrm xmlns:a="http://schemas.openxmlformats.org/drawingml/2006/main">
            <a:off x="4286250" y="4905375"/>
            <a:ext cx="7219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42C3B"/>
                </a:solidFill>
                <a:latin typeface="Helvetica Neue"/>
                <a:ea typeface="Helvetica Neue"/>
                <a:cs typeface="Helvetica Neue"/>
              </a:defRPr>
            </a:pPr>
            <a:r>
              <a:rPr sz="2325" b="0">
                <a:solidFill>
                  <a:srgbClr val="142C3B"/>
                </a:solidFill>
                <a:latin typeface="Helvetica Neue"/>
                <a:ea typeface="Helvetica Neue"/>
                <a:cs typeface="Helvetica Neue"/>
              </a:rPr>
              <a:t>Run downstream regressions and benchmark native performance.</a:t>
            </a:r>
          </a:p>
        </p:txBody>
      </p:sp>
      <p:sp>
        <p:nvSpPr>
          <p:cNvPr id="11" name="">
            <a:extLst xmlns:a="http://schemas.openxmlformats.org/drawingml/2006/main">
              <a:ext uri="{FF2B5EF4-FFF2-40B4-BE49-F238E27FC236}">
                <a16:creationId xmlns:a16="http://schemas.microsoft.com/office/drawing/2014/main" id="{3229813B-B747-4458-B6F9-4BB80E8924CD}"/>
              </a:ext>
            </a:extLst>
          </p:cNvPr>
          <p:cNvSpPr>
            <a:spLocks xmlns:a="http://schemas.openxmlformats.org/drawingml/2006/main" noGrp="1"/>
          </p:cNvSpPr>
          <p:nvPr/>
        </p:nvSpPr>
        <p:spPr>
          <a:xfrm xmlns:a="http://schemas.openxmlformats.org/drawingml/2006/main">
            <a:off x="685800" y="6038850"/>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1">
                <a:solidFill>
                  <a:srgbClr val="007F78"/>
                </a:solidFill>
                <a:latin typeface="Helvetica Neue"/>
                <a:ea typeface="Helvetica Neue"/>
                <a:cs typeface="Helvetica Neue"/>
              </a:defRPr>
            </a:pPr>
            <a:r>
              <a:rPr sz="1875" b="1">
                <a:solidFill>
                  <a:srgbClr val="007F78"/>
                </a:solidFill>
                <a:latin typeface="Helvetica Neue"/>
                <a:ea typeface="Helvetica Neue"/>
                <a:cs typeface="Helvetica Neue"/>
              </a:rPr>
              <a:t>Immediate work: compatibility review and broader verification of both ports.</a:t>
            </a:r>
          </a:p>
        </p:txBody>
      </p:sp>
    </p:spTree>
    <p:extLst>
      <p:ext uri="{BB962C8B-B14F-4D97-AF65-F5344CB8AC3E}">
        <p14:creationId xmlns:p14="http://schemas.microsoft.com/office/powerpoint/2010/main" val="8148709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2026-10-06T19:04:17.8430000Z</dcterms:created>
  <dcterms:modified xsi:type="dcterms:W3CDTF">2026-10-06T19:04:17.8430000Z</dcterms:modified>
</coreProperties>
</file>