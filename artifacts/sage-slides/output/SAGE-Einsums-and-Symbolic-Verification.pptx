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e384f70b8e24d9d" /><Relationship Type="http://schemas.openxmlformats.org/officeDocument/2006/relationships/extended-properties" Target="/docProps/app.xml" Id="Rd6baabe8f4a04de6" /><Relationship Type="http://schemas.openxmlformats.org/officeDocument/2006/relationships/officeDocument" Target="/ppt/presentation.xml" Id="R91844936e5a84507" /></Relationships>
</file>

<file path=ppt/presentation.xml><?xml version="1.0" encoding="utf-8"?>
<p:presentation xmlns:p="http://schemas.openxmlformats.org/presentationml/2006/main">
  <p:sldMasterIdLst>
    <p:sldMasterId xmlns:r="http://schemas.openxmlformats.org/officeDocument/2006/relationships" id="2147483648" r:id="Rb2729035822b4f19"/>
  </p:sldMasterIdLst>
  <p:notesMasterIdLst>
    <p:notesMasterId xmlns:r="http://schemas.openxmlformats.org/officeDocument/2006/relationships" r:id="Rc7ca1b77c8da406c"/>
  </p:notesMasterIdLst>
  <p:sldIdLst>
    <p:sldId xmlns:r="http://schemas.openxmlformats.org/officeDocument/2006/relationships" id="256" r:id="R5a36e794bad84c90"/>
    <p:sldId xmlns:r="http://schemas.openxmlformats.org/officeDocument/2006/relationships" id="257" r:id="R78f08f6880b24d5f"/>
    <p:sldId xmlns:r="http://schemas.openxmlformats.org/officeDocument/2006/relationships" id="258" r:id="R88d81bc30a2a48e1"/>
    <p:sldId xmlns:r="http://schemas.openxmlformats.org/officeDocument/2006/relationships" id="259" r:id="Rf52d8b7537c5456a"/>
    <p:sldId xmlns:r="http://schemas.openxmlformats.org/officeDocument/2006/relationships" id="260" r:id="R065df4d8ed104b5d"/>
    <p:sldId xmlns:r="http://schemas.openxmlformats.org/officeDocument/2006/relationships" id="261" r:id="R86ea26e8a17b4cee"/>
    <p:sldId xmlns:r="http://schemas.openxmlformats.org/officeDocument/2006/relationships" id="262" r:id="Raeeeffa58fd146db"/>
    <p:sldId xmlns:r="http://schemas.openxmlformats.org/officeDocument/2006/relationships" id="263" r:id="Raf55e324b17c41e8"/>
    <p:sldId xmlns:r="http://schemas.openxmlformats.org/officeDocument/2006/relationships" id="264" r:id="Rdbda02511db64c94"/>
    <p:sldId xmlns:r="http://schemas.openxmlformats.org/officeDocument/2006/relationships" id="265" r:id="Rb054836a41b1475b"/>
    <p:sldId xmlns:r="http://schemas.openxmlformats.org/officeDocument/2006/relationships" id="266" r:id="Re8f4bc1f0b514886"/>
    <p:sldId xmlns:r="http://schemas.openxmlformats.org/officeDocument/2006/relationships" id="267" r:id="Rbd98a079b4954f6c"/>
    <p:sldId xmlns:r="http://schemas.openxmlformats.org/officeDocument/2006/relationships" id="268" r:id="R7d32fd303fef4c61"/>
    <p:sldId xmlns:r="http://schemas.openxmlformats.org/officeDocument/2006/relationships" id="269" r:id="R0bb01af3946842c4"/>
    <p:sldId xmlns:r="http://schemas.openxmlformats.org/officeDocument/2006/relationships" id="270" r:id="R967e546b00c4409d"/>
    <p:sldId xmlns:r="http://schemas.openxmlformats.org/officeDocument/2006/relationships" id="271" r:id="Red58d8b70bcb47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de0724d9364dca" /><Relationship Type="http://schemas.openxmlformats.org/officeDocument/2006/relationships/slideMaster" Target="/ppt/slideMasters/slideMaster1.xml" Id="Rb2729035822b4f19" /><Relationship Type="http://schemas.openxmlformats.org/officeDocument/2006/relationships/notesMaster" Target="/ppt/notesMasters/notesMaster1.xml" Id="Rc7ca1b77c8da406c" /><Relationship Type="http://schemas.openxmlformats.org/officeDocument/2006/relationships/presProps" Target="/ppt/presProps.xml" Id="R873602787e604993" /><Relationship Type="http://schemas.openxmlformats.org/officeDocument/2006/relationships/tableStyles" Target="/ppt/tableStyles.xml" Id="Re28a7721228a4846" /><Relationship Type="http://schemas.openxmlformats.org/officeDocument/2006/relationships/slide" Target="/ppt/slides/slide1.xml" Id="R5a36e794bad84c90" /><Relationship Type="http://schemas.openxmlformats.org/officeDocument/2006/relationships/slide" Target="/ppt/slides/slide2.xml" Id="R78f08f6880b24d5f" /><Relationship Type="http://schemas.openxmlformats.org/officeDocument/2006/relationships/slide" Target="/ppt/slides/slide3.xml" Id="R88d81bc30a2a48e1" /><Relationship Type="http://schemas.openxmlformats.org/officeDocument/2006/relationships/slide" Target="/ppt/slides/slide4.xml" Id="Rf52d8b7537c5456a" /><Relationship Type="http://schemas.openxmlformats.org/officeDocument/2006/relationships/slide" Target="/ppt/slides/slide5.xml" Id="R065df4d8ed104b5d" /><Relationship Type="http://schemas.openxmlformats.org/officeDocument/2006/relationships/slide" Target="/ppt/slides/slide6.xml" Id="R86ea26e8a17b4cee" /><Relationship Type="http://schemas.openxmlformats.org/officeDocument/2006/relationships/slide" Target="/ppt/slides/slide7.xml" Id="Raeeeffa58fd146db" /><Relationship Type="http://schemas.openxmlformats.org/officeDocument/2006/relationships/slide" Target="/ppt/slides/slide8.xml" Id="Raf55e324b17c41e8" /><Relationship Type="http://schemas.openxmlformats.org/officeDocument/2006/relationships/slide" Target="/ppt/slides/slide9.xml" Id="Rdbda02511db64c94" /><Relationship Type="http://schemas.openxmlformats.org/officeDocument/2006/relationships/slide" Target="/ppt/slides/slide10.xml" Id="Rb054836a41b1475b" /><Relationship Type="http://schemas.openxmlformats.org/officeDocument/2006/relationships/slide" Target="/ppt/slides/slide11.xml" Id="Re8f4bc1f0b514886" /><Relationship Type="http://schemas.openxmlformats.org/officeDocument/2006/relationships/slide" Target="/ppt/slides/slide12.xml" Id="Rbd98a079b4954f6c" /><Relationship Type="http://schemas.openxmlformats.org/officeDocument/2006/relationships/slide" Target="/ppt/slides/slide13.xml" Id="R7d32fd303fef4c61" /><Relationship Type="http://schemas.openxmlformats.org/officeDocument/2006/relationships/slide" Target="/ppt/slides/slide14.xml" Id="R0bb01af3946842c4" /><Relationship Type="http://schemas.openxmlformats.org/officeDocument/2006/relationships/slide" Target="/ppt/slides/slide15.xml" Id="R967e546b00c4409d" /><Relationship Type="http://schemas.openxmlformats.org/officeDocument/2006/relationships/slide" Target="/ppt/slides/slide16.xml" Id="Red58d8b70bcb47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8016a804d240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9adba19e71440d" /><Relationship Type="http://schemas.openxmlformats.org/officeDocument/2006/relationships/notesMaster" Target="/ppt/notesMasters/notesMaster1.xml" Id="Rf8b3470cda644b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c80415b62e4def" /><Relationship Type="http://schemas.openxmlformats.org/officeDocument/2006/relationships/notesMaster" Target="/ppt/notesMasters/notesMaster1.xml" Id="Ra3266782f3ea45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f94ff75c9144d7" /><Relationship Type="http://schemas.openxmlformats.org/officeDocument/2006/relationships/notesMaster" Target="/ppt/notesMasters/notesMaster1.xml" Id="R42d91857111740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72ccd4f4f64095" /><Relationship Type="http://schemas.openxmlformats.org/officeDocument/2006/relationships/notesMaster" Target="/ppt/notesMasters/notesMaster1.xml" Id="R5a5b152e80fb4a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1c8741fb634f13" /><Relationship Type="http://schemas.openxmlformats.org/officeDocument/2006/relationships/notesMaster" Target="/ppt/notesMasters/notesMaster1.xml" Id="R2db85d5399874b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8296b44e2846b4" /><Relationship Type="http://schemas.openxmlformats.org/officeDocument/2006/relationships/notesMaster" Target="/ppt/notesMasters/notesMaster1.xml" Id="R06c2c2a2d96d48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b925b3a9c040ab" /><Relationship Type="http://schemas.openxmlformats.org/officeDocument/2006/relationships/notesMaster" Target="/ppt/notesMasters/notesMaster1.xml" Id="Ra297678c4cb146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3cb4c6a46d4724" /><Relationship Type="http://schemas.openxmlformats.org/officeDocument/2006/relationships/notesMaster" Target="/ppt/notesMasters/notesMaster1.xml" Id="R226cf70573434f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6cb60114c64653" /><Relationship Type="http://schemas.openxmlformats.org/officeDocument/2006/relationships/notesMaster" Target="/ppt/notesMasters/notesMaster1.xml" Id="R5e2853b772a046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af6b992f0f45b4" /><Relationship Type="http://schemas.openxmlformats.org/officeDocument/2006/relationships/notesMaster" Target="/ppt/notesMasters/notesMaster1.xml" Id="Ra6b13afebac942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c90407a1f8440a" /><Relationship Type="http://schemas.openxmlformats.org/officeDocument/2006/relationships/notesMaster" Target="/ppt/notesMasters/notesMaster1.xml" Id="R6b85b72b4f5f4e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f6279c5a2740af" /><Relationship Type="http://schemas.openxmlformats.org/officeDocument/2006/relationships/notesMaster" Target="/ppt/notesMasters/notesMaster1.xml" Id="R9e29274a5ef74f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f2b3a73a6ae48e1" /><Relationship Type="http://schemas.openxmlformats.org/officeDocument/2006/relationships/notesMaster" Target="/ppt/notesMasters/notesMaster1.xml" Id="Rb7070a868f4e4c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7853a6971b4696" /><Relationship Type="http://schemas.openxmlformats.org/officeDocument/2006/relationships/notesMaster" Target="/ppt/notesMasters/notesMaster1.xml" Id="R52dbc45955584e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d4d213d631463c" /><Relationship Type="http://schemas.openxmlformats.org/officeDocument/2006/relationships/notesMaster" Target="/ppt/notesMasters/notesMaster1.xml" Id="R10bfc9d72ac845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7a37eb9f0c4661" /><Relationship Type="http://schemas.openxmlformats.org/officeDocument/2006/relationships/notesMaster" Target="/ppt/notesMasters/notesMaster1.xml" Id="R17f85f1e91c64a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b5a16736ad44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521157f86d4eaa" /><Relationship Type="http://schemas.openxmlformats.org/officeDocument/2006/relationships/slideLayout" Target="/ppt/slideLayouts/slideLayout1.xml" Id="R2515935021cd4d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15935021cd4d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546b7b5a4448e9" /><Relationship Type="http://schemas.openxmlformats.org/officeDocument/2006/relationships/image" Target="/ppt/media/image.png" Id="Redf9944ca7ff444a" /><Relationship Type="http://schemas.openxmlformats.org/officeDocument/2006/relationships/notesSlide" Target="/ppt/notesSlides/notesSlide1.xml" Id="R315a84dc74a448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563c3bab714177" /><Relationship Type="http://schemas.openxmlformats.org/officeDocument/2006/relationships/notesSlide" Target="/ppt/notesSlides/notesSlide2.xml" Id="R21e3b73fff7346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8c4cd449c74299" /><Relationship Type="http://schemas.openxmlformats.org/officeDocument/2006/relationships/notesSlide" Target="/ppt/notesSlides/notesSlide3.xml" Id="Ra7844e4966a44a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fffcb3c9c64f2c" /><Relationship Type="http://schemas.openxmlformats.org/officeDocument/2006/relationships/notesSlide" Target="/ppt/notesSlides/notesSlide4.xml" Id="R7029dc36ac7546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638329de8c45c3" /><Relationship Type="http://schemas.openxmlformats.org/officeDocument/2006/relationships/notesSlide" Target="/ppt/notesSlides/notesSlide5.xml" Id="R999f0ce3324443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13254ea8b348bf" /><Relationship Type="http://schemas.openxmlformats.org/officeDocument/2006/relationships/chart" Target="/ppt/slides/charts/chart1.xml" Id="R8ea1ac0d2a4d42ff" /><Relationship Type="http://schemas.openxmlformats.org/officeDocument/2006/relationships/notesSlide" Target="/ppt/notesSlides/notesSlide6.xml" Id="R33514bce6fca4e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e9972672904492" /><Relationship Type="http://schemas.openxmlformats.org/officeDocument/2006/relationships/notesSlide" Target="/ppt/notesSlides/notesSlide7.xml" Id="Rabce4c38cbbf4e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28e2812f804f0e" /><Relationship Type="http://schemas.openxmlformats.org/officeDocument/2006/relationships/notesSlide" Target="/ppt/notesSlides/notesSlide8.xml" Id="R7a5f1ef31b4347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093f940edc4417" /><Relationship Type="http://schemas.openxmlformats.org/officeDocument/2006/relationships/notesSlide" Target="/ppt/notesSlides/notesSlide9.xml" Id="R3b168ae1efe141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4829242a0548ff" /><Relationship Type="http://schemas.openxmlformats.org/officeDocument/2006/relationships/notesSlide" Target="/ppt/notesSlides/notesSlide10.xml" Id="Rb23052b22ef941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fb3781c5e084ef5" /><Relationship Type="http://schemas.openxmlformats.org/officeDocument/2006/relationships/notesSlide" Target="/ppt/notesSlides/notesSlide11.xml" Id="R4ef60f10fe144b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cadc4aa3e9c4b11" /><Relationship Type="http://schemas.openxmlformats.org/officeDocument/2006/relationships/notesSlide" Target="/ppt/notesSlides/notesSlide12.xml" Id="Rb65c21ef044c43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c48859ed01c44ec" /><Relationship Type="http://schemas.openxmlformats.org/officeDocument/2006/relationships/notesSlide" Target="/ppt/notesSlides/notesSlide13.xml" Id="Rc7e97aaca2a744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eb951b40be435b" /><Relationship Type="http://schemas.openxmlformats.org/officeDocument/2006/relationships/notesSlide" Target="/ppt/notesSlides/notesSlide14.xml" Id="Rf0c649093af547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445e51a195a4a29" /><Relationship Type="http://schemas.openxmlformats.org/officeDocument/2006/relationships/notesSlide" Target="/ppt/notesSlides/notesSlide15.xml" Id="R3ff5bb08525848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787df9f49b24a5f" /><Relationship Type="http://schemas.openxmlformats.org/officeDocument/2006/relationships/notesSlide" Target="/ppt/notesSlides/notesSlide16.xml" Id="R5bbb3686a4af462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API/dtype checks</c:v>
          </c:tx>
          <c:spPr>
            <a:solidFill xmlns:a="http://schemas.openxmlformats.org/drawingml/2006/main">
              <a:srgbClr val="007F78"/>
            </a:solidFill>
          </c:spPr>
          <c:dPt>
            <c:idx val="1"/>
            <c:invertIfNegative val="0"/>
            <c:spPr>
              <a:solidFill xmlns:a="http://schemas.openxmlformats.org/drawingml/2006/main">
                <a:srgbClr val="AB671B"/>
              </a:solidFill>
            </c:spPr>
          </c:dPt>
          <c:cat>
            <c:strRef>
              <c:f>'Chart Data'!$A$2:$A$3</c:f>
              <c:strCache>
                <c:ptCount val="2"/>
                <c:pt idx="0">
                  <c:v>Both implementations pass</c:v>
                </c:pt>
                <c:pt idx="1">
                  <c:v>Reference / contract disagreement</c:v>
                </c:pt>
              </c:strCache>
            </c:strRef>
          </c:cat>
          <c:val>
            <c:numRef>
              <c:f>'Chart Data'!$B$2:$B$3</c:f>
              <c:numCache>
                <c:formatCode>General</c:formatCode>
                <c:ptCount val="2"/>
                <c:pt idx="0">
                  <c:v>13810</c:v>
                </c:pt>
                <c:pt idx="1">
                  <c:v>2062</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42C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673"/>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42C3B"/>
                </a:solidFill>
                <a:latin typeface="Helvetica Neue"/>
                <a:ea typeface="Helvetica Neue"/>
                <a:cs typeface="Helvetica Neue"/>
              </a:defRPr>
            </a:pPr>
          </a:p>
        </c:txPr>
        <c:crossAx val="48650112"/>
        <c:crossBetween val="between"/>
      </c:valAx>
      <c:spPr>
        <a:solidFill xmlns:a="http://schemas.openxmlformats.org/drawingml/2006/main">
          <a:srgbClr val="F5F7F6"/>
        </a:solidFill>
      </c:spPr>
    </c:plotArea>
    <c:plotVisOnly val="1"/>
  </c:chart>
  <c:spPr>
    <a:solidFill xmlns:a="http://schemas.openxmlformats.org/drawingml/2006/main">
      <a:srgbClr val="F5F7F6"/>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E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5E8878-C73E-4271-B7F9-D85C497BBD0E}"/>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9DB5C2"/>
                </a:solidFill>
                <a:latin typeface="Helvetica Neue"/>
                <a:ea typeface="Helvetica Neue"/>
                <a:cs typeface="Helvetica Neue"/>
              </a:defRPr>
            </a:pPr>
            <a:r>
              <a:rPr sz="1125" b="0">
                <a:solidFill>
                  <a:srgbClr val="9DB5C2"/>
                </a:solidFill>
                <a:latin typeface="Helvetica Neue"/>
                <a:ea typeface="Helvetica Neue"/>
                <a:cs typeface="Helvetica Neue"/>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df9944ca7ff444a"/>
          <a:stretch xmlns:a="http://schemas.openxmlformats.org/drawingml/2006/main"/>
        </p:blipFill>
        <p:spPr>
          <a:xfrm xmlns:a="http://schemas.openxmlformats.org/drawingml/2006/main">
            <a:off x="6000750" y="1619250"/>
            <a:ext cx="6000750" cy="4000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F4B45C9-6535-4F24-A363-C0633AAF06BC}"/>
              </a:ext>
            </a:extLst>
          </p:cNvPr>
          <p:cNvSpPr>
            <a:spLocks xmlns:a="http://schemas.openxmlformats.org/drawingml/2006/main" noGrp="1"/>
          </p:cNvSpPr>
          <p:nvPr/>
        </p:nvSpPr>
        <p:spPr>
          <a:xfrm xmlns:a="http://schemas.openxmlformats.org/drawingml/2006/main">
            <a:off x="685800" y="828675"/>
            <a:ext cx="5238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7500" b="1">
                <a:solidFill>
                  <a:srgbClr val="FFFFFF"/>
                </a:solidFill>
                <a:latin typeface="Helvetica Neue"/>
                <a:ea typeface="Helvetica Neue"/>
                <a:cs typeface="Helvetica Neue"/>
              </a:defRPr>
            </a:pPr>
            <a:r>
              <a:rPr sz="7500" b="1">
                <a:solidFill>
                  <a:srgbClr val="FFFFFF"/>
                </a:solidFill>
                <a:latin typeface="Helvetica Neue"/>
                <a:ea typeface="Helvetica Neue"/>
                <a:cs typeface="Helvetica Neue"/>
              </a:rPr>
              <a:t>SAGE</a:t>
            </a:r>
          </a:p>
        </p:txBody>
      </p:sp>
      <p:sp>
        <p:nvSpPr>
          <p:cNvPr id="4" name="">
            <a:extLst xmlns:a="http://schemas.openxmlformats.org/drawingml/2006/main">
              <a:ext uri="{FF2B5EF4-FFF2-40B4-BE49-F238E27FC236}">
                <a16:creationId xmlns:a16="http://schemas.microsoft.com/office/drawing/2014/main" id="{7AAC1E60-716C-4866-99B5-F39A8FDE6B0A}"/>
              </a:ext>
            </a:extLst>
          </p:cNvPr>
          <p:cNvSpPr>
            <a:spLocks xmlns:a="http://schemas.openxmlformats.org/drawingml/2006/main" noGrp="1"/>
          </p:cNvSpPr>
          <p:nvPr/>
        </p:nvSpPr>
        <p:spPr>
          <a:xfrm xmlns:a="http://schemas.openxmlformats.org/drawingml/2006/main">
            <a:off x="685800" y="2381250"/>
            <a:ext cx="5334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Scientific code translation</a:t>
            </a:r>
          </a:p>
          <a:p xmlns:a="http://schemas.openxmlformats.org/drawingml/2006/main">
            <a:pPr>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with auditable evidence</a:t>
            </a:r>
          </a:p>
        </p:txBody>
      </p:sp>
      <p:sp>
        <p:nvSpPr>
          <p:cNvPr id="5" name="">
            <a:extLst xmlns:a="http://schemas.openxmlformats.org/drawingml/2006/main">
              <a:ext uri="{FF2B5EF4-FFF2-40B4-BE49-F238E27FC236}">
                <a16:creationId xmlns:a16="http://schemas.microsoft.com/office/drawing/2014/main" id="{68FB324A-B4E6-40BC-BFBA-0A50A08E6960}"/>
              </a:ext>
            </a:extLst>
          </p:cNvPr>
          <p:cNvSpPr>
            <a:spLocks xmlns:a="http://schemas.openxmlformats.org/drawingml/2006/main" noGrp="1"/>
          </p:cNvSpPr>
          <p:nvPr/>
        </p:nvSpPr>
        <p:spPr>
          <a:xfrm xmlns:a="http://schemas.openxmlformats.org/drawingml/2006/main">
            <a:off x="685800" y="4429125"/>
            <a:ext cx="561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8BD1BB"/>
                </a:solidFill>
                <a:latin typeface="Helvetica Neue"/>
                <a:ea typeface="Helvetica Neue"/>
                <a:cs typeface="Helvetica Neue"/>
              </a:defRPr>
            </a:pPr>
            <a:r>
              <a:rPr sz="2250" b="0">
                <a:solidFill>
                  <a:srgbClr val="8BD1BB"/>
                </a:solidFill>
                <a:latin typeface="Helvetica Neue"/>
                <a:ea typeface="Helvetica Neue"/>
                <a:cs typeface="Helvetica Neue"/>
              </a:rPr>
              <a:t>Rust and C++20 translations</a:t>
            </a:r>
          </a:p>
          <a:p xmlns:a="http://schemas.openxmlformats.org/drawingml/2006/main">
            <a:pPr>
              <a:buNone/>
              <a:defRPr sz="2250" b="0">
                <a:solidFill>
                  <a:srgbClr val="8BD1BB"/>
                </a:solidFill>
                <a:latin typeface="Helvetica Neue"/>
                <a:ea typeface="Helvetica Neue"/>
                <a:cs typeface="Helvetica Neue"/>
              </a:defRPr>
            </a:pPr>
            <a:r>
              <a:rPr sz="2250" b="0">
                <a:solidFill>
                  <a:srgbClr val="8BD1BB"/>
                </a:solidFill>
                <a:latin typeface="Helvetica Neue"/>
                <a:ea typeface="Helvetica Neue"/>
                <a:cs typeface="Helvetica Neue"/>
              </a:rPr>
              <a:t>Completed checks and next steps</a:t>
            </a:r>
          </a:p>
        </p:txBody>
      </p:sp>
      <p:sp>
        <p:nvSpPr>
          <p:cNvPr id="6" name="">
            <a:extLst xmlns:a="http://schemas.openxmlformats.org/drawingml/2006/main">
              <a:ext uri="{FF2B5EF4-FFF2-40B4-BE49-F238E27FC236}">
                <a16:creationId xmlns:a16="http://schemas.microsoft.com/office/drawing/2014/main" id="{CD3B56F1-C1DB-4C03-86A0-2E7BC6BD023D}"/>
              </a:ext>
            </a:extLst>
          </p:cNvPr>
          <p:cNvSpPr>
            <a:spLocks xmlns:a="http://schemas.openxmlformats.org/drawingml/2006/main" noGrp="1"/>
          </p:cNvSpPr>
          <p:nvPr/>
        </p:nvSpPr>
        <p:spPr>
          <a:xfrm xmlns:a="http://schemas.openxmlformats.org/drawingml/2006/main">
            <a:off x="685800" y="586740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B3C5CD"/>
                </a:solidFill>
                <a:latin typeface="Helvetica Neue"/>
                <a:ea typeface="Helvetica Neue"/>
                <a:cs typeface="Helvetica Neue"/>
              </a:defRPr>
            </a:pPr>
            <a:r>
              <a:rPr sz="1650" b="0">
                <a:solidFill>
                  <a:srgbClr val="B3C5CD"/>
                </a:solidFill>
                <a:latin typeface="Helvetica Neue"/>
                <a:ea typeface="Helvetica Neue"/>
                <a:cs typeface="Helvetica Neue"/>
              </a:rPr>
              <a:t>Updated October 6, 2026</a:t>
            </a:r>
          </a:p>
        </p:txBody>
      </p:sp>
    </p:spTree>
    <p:extLst>
      <p:ext uri="{BB962C8B-B14F-4D97-AF65-F5344CB8AC3E}">
        <p14:creationId xmlns:p14="http://schemas.microsoft.com/office/powerpoint/2010/main" val="487019358"/>
      </p:ext>
    </p:extLst>
  </p:cSld>
</p:sld>
</file>

<file path=ppt/slides/slide2.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E61CC5-5E6C-49B0-844B-3F2479C75919}"/>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Why scientific translation needs evidence</a:t>
            </a:r>
          </a:p>
        </p:txBody>
      </p:sp>
      <p:sp>
        <p:nvSpPr>
          <p:cNvPr id="2" name="">
            <a:extLst xmlns:a="http://schemas.openxmlformats.org/drawingml/2006/main">
              <a:ext uri="{FF2B5EF4-FFF2-40B4-BE49-F238E27FC236}">
                <a16:creationId xmlns:a16="http://schemas.microsoft.com/office/drawing/2014/main" id="{642FA54E-EF7A-4620-BE56-67E3B24D9E15}"/>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581A48E-8778-41F9-8C23-AD309B4F6FF3}"/>
              </a:ext>
            </a:extLst>
          </p:cNvPr>
          <p:cNvSpPr>
            <a:spLocks xmlns:a="http://schemas.openxmlformats.org/drawingml/2006/main" noGrp="1"/>
          </p:cNvSpPr>
          <p:nvPr/>
        </p:nvSpPr>
        <p:spPr>
          <a:xfrm xmlns:a="http://schemas.openxmlformats.org/drawingml/2006/main">
            <a:off x="685800" y="15906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1">
                <a:solidFill>
                  <a:srgbClr val="007F78"/>
                </a:solidFill>
                <a:latin typeface="Helvetica Neue"/>
                <a:ea typeface="Helvetica Neue"/>
                <a:cs typeface="Helvetica Neue"/>
              </a:defRPr>
            </a:pPr>
            <a:r>
              <a:rPr sz="2625" b="1">
                <a:solidFill>
                  <a:srgbClr val="007F78"/>
                </a:solidFill>
                <a:latin typeface="Helvetica Neue"/>
                <a:ea typeface="Helvetica Neue"/>
                <a:cs typeface="Helvetica Neue"/>
              </a:rPr>
              <a:t>Code can compile and still change the science.</a:t>
            </a:r>
          </a:p>
        </p:txBody>
      </p:sp>
      <p:graphicFrame>
        <p:nvGraphicFramePr>
          <p:cNvPr id="11" name=""/>
          <p:cNvGraphicFramePr/>
          <p:nvPr/>
        </p:nvGraphicFramePr>
        <p:xfrm>
          <a:off xmlns:a="http://schemas.openxmlformats.org/drawingml/2006/main" x="685800" y="2457450"/>
          <a:ext xmlns:a="http://schemas.openxmlformats.org/drawingml/2006/main" cx="10820400" cy="3048000"/>
        </p:xfrm>
        <a:graphic xmlns:a="http://schemas.openxmlformats.org/drawingml/2006/main">
          <a:graphicData uri="http://schemas.openxmlformats.org/drawingml/2006/table">
            <a:tbl>
              <a:tblPr/>
              <a:tblGrid>
                <a:gridCol w="3524250"/>
                <a:gridCol w="7296150"/>
              </a:tblGrid>
              <a:tr h="552450">
                <a:tc>
                  <a:txBody>
                    <a:bodyPr>
                      <a:noAutofit/>
                    </a:bodyPr>
                    <a:lstStyle/>
                    <a:p>
                      <a:r>
                        <a:rPr sz="2025" b="1">
                          <a:solidFill>
                            <a:srgbClr val="FFFFFF"/>
                          </a:solidFill>
                          <a:latin typeface="Helvetica Neue"/>
                          <a:ea typeface="Helvetica Neue"/>
                          <a:cs typeface="Helvetica Neue"/>
                        </a:rPr>
                        <a:t>What can change</a:t>
                      </a:r>
                    </a:p>
                  </a:txBody>
                  <a:tcPr marL="152400" marR="152400" marT="133350" marB="114300" anchor="ctr">
                    <a:solidFill>
                      <a:srgbClr val="142C3B"/>
                    </a:solidFill>
                  </a:tcPr>
                </a:tc>
                <a:tc>
                  <a:txBody>
                    <a:bodyPr>
                      <a:noAutofit/>
                    </a:bodyPr>
                    <a:lstStyle/>
                    <a:p>
                      <a:r>
                        <a:rPr sz="2025" b="1">
                          <a:solidFill>
                            <a:srgbClr val="FFFFFF"/>
                          </a:solidFill>
                          <a:latin typeface="Helvetica Neue"/>
                          <a:ea typeface="Helvetica Neue"/>
                          <a:cs typeface="Helvetica Neue"/>
                        </a:rPr>
                        <a:t>Example consequence</a:t>
                      </a:r>
                    </a:p>
                  </a:txBody>
                  <a:tcPr marL="152400" marR="152400" marT="133350" marB="114300" anchor="ctr">
                    <a:solidFill>
                      <a:srgbClr val="142C3B"/>
                    </a:solidFill>
                  </a:tcPr>
                </a:tc>
              </a:tr>
              <a:tr h="831850">
                <a:tc>
                  <a:txBody>
                    <a:bodyPr>
                      <a:noAutofit/>
                    </a:bodyPr>
                    <a:lstStyle/>
                    <a:p>
                      <a:r>
                        <a:rPr sz="2025" b="0">
                          <a:solidFill>
                            <a:srgbClr val="142C3B"/>
                          </a:solidFill>
                          <a:latin typeface="Helvetica Neue"/>
                          <a:ea typeface="Helvetica Neue"/>
                          <a:cs typeface="Helvetica Neue"/>
                        </a:rPr>
                        <a:t>Layout and ownership</a:t>
                      </a:r>
                    </a:p>
                  </a:txBody>
                  <a:tcPr marL="152400" marR="152400" marT="133350" marB="114300" anchor="ctr">
                    <a:solidFill>
                      <a:srgbClr val="F5F7F6"/>
                    </a:solidFill>
                  </a:tcPr>
                </a:tc>
                <a:tc>
                  <a:txBody>
                    <a:bodyPr>
                      <a:noAutofit/>
                    </a:bodyPr>
                    <a:lstStyle/>
                    <a:p>
                      <a:r>
                        <a:rPr sz="2025" b="0">
                          <a:solidFill>
                            <a:srgbClr val="142C3B"/>
                          </a:solidFill>
                          <a:latin typeface="Helvetica Neue"/>
                          <a:ea typeface="Helvetica Neue"/>
                          <a:cs typeface="Helvetica Neue"/>
                        </a:rPr>
                        <a:t>A transpose, stride or alias changes the result.</a:t>
                      </a:r>
                    </a:p>
                  </a:txBody>
                  <a:tcPr marL="152400" marR="152400" marT="133350" marB="114300" anchor="ctr">
                    <a:solidFill>
                      <a:srgbClr val="F5F7F6"/>
                    </a:solidFill>
                  </a:tcPr>
                </a:tc>
              </a:tr>
              <a:tr h="831850">
                <a:tc>
                  <a:txBody>
                    <a:bodyPr>
                      <a:noAutofit/>
                    </a:bodyPr>
                    <a:lstStyle/>
                    <a:p>
                      <a:r>
                        <a:rPr sz="2025" b="0">
                          <a:solidFill>
                            <a:srgbClr val="142C3B"/>
                          </a:solidFill>
                          <a:latin typeface="Helvetica Neue"/>
                          <a:ea typeface="Helvetica Neue"/>
                          <a:cs typeface="Helvetica Neue"/>
                        </a:rPr>
                        <a:t>Numerical behavior</a:t>
                      </a:r>
                    </a:p>
                  </a:txBody>
                  <a:tcPr marL="152400" marR="152400" marT="133350" marB="114300" anchor="ctr">
                    <a:solidFill>
                      <a:srgbClr val="F5F7F6"/>
                    </a:solidFill>
                  </a:tcPr>
                </a:tc>
                <a:tc>
                  <a:txBody>
                    <a:bodyPr>
                      <a:noAutofit/>
                    </a:bodyPr>
                    <a:lstStyle/>
                    <a:p>
                      <a:r>
                        <a:rPr sz="2025" b="0">
                          <a:solidFill>
                            <a:srgbClr val="142C3B"/>
                          </a:solidFill>
                          <a:latin typeface="Helvetica Neue"/>
                          <a:ea typeface="Helvetica Neue"/>
                          <a:cs typeface="Helvetica Neue"/>
                        </a:rPr>
                        <a:t>Rounding, conditioning or basis choices alter comparisons.</a:t>
                      </a:r>
                    </a:p>
                  </a:txBody>
                  <a:tcPr marL="152400" marR="152400" marT="133350" marB="114300" anchor="ctr">
                    <a:solidFill>
                      <a:srgbClr val="F5F7F6"/>
                    </a:solidFill>
                  </a:tcPr>
                </a:tc>
              </a:tr>
              <a:tr h="831850">
                <a:tc>
                  <a:txBody>
                    <a:bodyPr>
                      <a:noAutofit/>
                    </a:bodyPr>
                    <a:lstStyle/>
                    <a:p>
                      <a:r>
                        <a:rPr sz="2025" b="0">
                          <a:solidFill>
                            <a:srgbClr val="142C3B"/>
                          </a:solidFill>
                          <a:latin typeface="Helvetica Neue"/>
                          <a:ea typeface="Helvetica Neue"/>
                          <a:cs typeface="Helvetica Neue"/>
                        </a:rPr>
                        <a:t>API and failure behavior</a:t>
                      </a:r>
                    </a:p>
                  </a:txBody>
                  <a:tcPr marL="152400" marR="152400" marT="133350" marB="114300" anchor="ctr">
                    <a:solidFill>
                      <a:srgbClr val="F5F7F6"/>
                    </a:solidFill>
                  </a:tcPr>
                </a:tc>
                <a:tc>
                  <a:txBody>
                    <a:bodyPr>
                      <a:noAutofit/>
                    </a:bodyPr>
                    <a:lstStyle/>
                    <a:p>
                      <a:r>
                        <a:rPr sz="2025" b="0">
                          <a:solidFill>
                            <a:srgbClr val="142C3B"/>
                          </a:solidFill>
                          <a:latin typeface="Helvetica Neue"/>
                          <a:ea typeface="Helvetica Neue"/>
                          <a:cs typeface="Helvetica Neue"/>
                        </a:rPr>
                        <a:t>Shapes, exceptions or lifetimes break downstream use.</a:t>
                      </a:r>
                    </a:p>
                  </a:txBody>
                  <a:tcPr marL="152400" marR="152400" marT="133350" marB="114300" anchor="ctr">
                    <a:solidFill>
                      <a:srgbClr val="F5F7F6"/>
                    </a:solidFill>
                  </a:tcPr>
                </a:tc>
              </a:tr>
            </a:tbl>
          </a:graphicData>
        </a:graphic>
      </p:graphicFrame>
      <p:sp>
        <p:nvSpPr>
          <p:cNvPr id="5" name="">
            <a:extLst xmlns:a="http://schemas.openxmlformats.org/drawingml/2006/main">
              <a:ext uri="{FF2B5EF4-FFF2-40B4-BE49-F238E27FC236}">
                <a16:creationId xmlns:a16="http://schemas.microsoft.com/office/drawing/2014/main" id="{AE13F856-79A6-42F8-A73B-DD4753857780}"/>
              </a:ext>
            </a:extLst>
          </p:cNvPr>
          <p:cNvSpPr>
            <a:spLocks xmlns:a="http://schemas.openxmlformats.org/drawingml/2006/main" noGrp="1"/>
          </p:cNvSpPr>
          <p:nvPr/>
        </p:nvSpPr>
        <p:spPr>
          <a:xfrm xmlns:a="http://schemas.openxmlformats.org/drawingml/2006/main">
            <a:off x="685800" y="5724525"/>
            <a:ext cx="1052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42C3B"/>
                </a:solidFill>
                <a:latin typeface="Helvetica Neue"/>
                <a:ea typeface="Helvetica Neue"/>
                <a:cs typeface="Helvetica Neue"/>
              </a:defRPr>
            </a:pPr>
            <a:r>
              <a:rPr sz="1875" b="0">
                <a:solidFill>
                  <a:srgbClr val="142C3B"/>
                </a:solidFill>
                <a:latin typeface="Helvetica Neue"/>
                <a:ea typeface="Helvetica Neue"/>
                <a:cs typeface="Helvetica Neue"/>
              </a:rPr>
              <a:t>Review needs a replayable result tied to source, inputs and a stated policy.</a:t>
            </a:r>
          </a:p>
        </p:txBody>
      </p:sp>
    </p:spTree>
    <p:extLst>
      <p:ext uri="{BB962C8B-B14F-4D97-AF65-F5344CB8AC3E}">
        <p14:creationId xmlns:p14="http://schemas.microsoft.com/office/powerpoint/2010/main" val="6846527"/>
      </p:ext>
    </p:extLst>
  </p:cSld>
</p:sld>
</file>

<file path=ppt/slides/slide3.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F607B5-AF78-4FD5-BC54-0129162224D4}"/>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What SAGE does</a:t>
            </a:r>
          </a:p>
        </p:txBody>
      </p:sp>
      <p:sp>
        <p:nvSpPr>
          <p:cNvPr id="2" name="">
            <a:extLst xmlns:a="http://schemas.openxmlformats.org/drawingml/2006/main">
              <a:ext uri="{FF2B5EF4-FFF2-40B4-BE49-F238E27FC236}">
                <a16:creationId xmlns:a16="http://schemas.microsoft.com/office/drawing/2014/main" id="{579A2684-B6D4-4B19-88D9-324AFC790BA3}"/>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281A99E-BFCC-401D-AECD-5F4CEB908B60}"/>
              </a:ext>
            </a:extLst>
          </p:cNvPr>
          <p:cNvSpPr>
            <a:spLocks xmlns:a="http://schemas.openxmlformats.org/drawingml/2006/main" noGrp="1"/>
          </p:cNvSpPr>
          <p:nvPr/>
        </p:nvSpPr>
        <p:spPr>
          <a:xfrm xmlns:a="http://schemas.openxmlformats.org/drawingml/2006/main">
            <a:off x="685800" y="158115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01  Capture the target</a:t>
            </a:r>
          </a:p>
        </p:txBody>
      </p:sp>
      <p:sp>
        <p:nvSpPr>
          <p:cNvPr id="4" name="">
            <a:extLst xmlns:a="http://schemas.openxmlformats.org/drawingml/2006/main">
              <a:ext uri="{FF2B5EF4-FFF2-40B4-BE49-F238E27FC236}">
                <a16:creationId xmlns:a16="http://schemas.microsoft.com/office/drawing/2014/main" id="{3F3B79BF-6869-41D5-B497-29583454A666}"/>
              </a:ext>
            </a:extLst>
          </p:cNvPr>
          <p:cNvSpPr>
            <a:spLocks xmlns:a="http://schemas.openxmlformats.org/drawingml/2006/main" noGrp="1"/>
          </p:cNvSpPr>
          <p:nvPr/>
        </p:nvSpPr>
        <p:spPr>
          <a:xfrm xmlns:a="http://schemas.openxmlformats.org/drawingml/2006/main">
            <a:off x="4286250" y="1581150"/>
            <a:ext cx="695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Pin source, domain, policy and build environment.</a:t>
            </a:r>
          </a:p>
        </p:txBody>
      </p:sp>
      <p:sp>
        <p:nvSpPr>
          <p:cNvPr id="5" name="">
            <a:extLst xmlns:a="http://schemas.openxmlformats.org/drawingml/2006/main">
              <a:ext uri="{FF2B5EF4-FFF2-40B4-BE49-F238E27FC236}">
                <a16:creationId xmlns:a16="http://schemas.microsoft.com/office/drawing/2014/main" id="{EA520B0E-409A-4C97-B218-9E7CD5B0F366}"/>
              </a:ext>
            </a:extLst>
          </p:cNvPr>
          <p:cNvSpPr>
            <a:spLocks xmlns:a="http://schemas.openxmlformats.org/drawingml/2006/main" noGrp="1"/>
          </p:cNvSpPr>
          <p:nvPr/>
        </p:nvSpPr>
        <p:spPr>
          <a:xfrm xmlns:a="http://schemas.openxmlformats.org/drawingml/2006/main">
            <a:off x="685800" y="241935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02  Produce a candidate</a:t>
            </a:r>
          </a:p>
        </p:txBody>
      </p:sp>
      <p:sp>
        <p:nvSpPr>
          <p:cNvPr id="6" name="">
            <a:extLst xmlns:a="http://schemas.openxmlformats.org/drawingml/2006/main">
              <a:ext uri="{FF2B5EF4-FFF2-40B4-BE49-F238E27FC236}">
                <a16:creationId xmlns:a16="http://schemas.microsoft.com/office/drawing/2014/main" id="{800D9AA2-C938-4D68-AC13-97D70BAF8E05}"/>
              </a:ext>
            </a:extLst>
          </p:cNvPr>
          <p:cNvSpPr>
            <a:spLocks xmlns:a="http://schemas.openxmlformats.org/drawingml/2006/main" noGrp="1"/>
          </p:cNvSpPr>
          <p:nvPr/>
        </p:nvSpPr>
        <p:spPr>
          <a:xfrm xmlns:a="http://schemas.openxmlformats.org/drawingml/2006/main">
            <a:off x="4286250" y="2419350"/>
            <a:ext cx="695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Snapshot a checked-in Rust or C++20 candidate.</a:t>
            </a:r>
          </a:p>
        </p:txBody>
      </p:sp>
      <p:sp>
        <p:nvSpPr>
          <p:cNvPr id="7" name="">
            <a:extLst xmlns:a="http://schemas.openxmlformats.org/drawingml/2006/main">
              <a:ext uri="{FF2B5EF4-FFF2-40B4-BE49-F238E27FC236}">
                <a16:creationId xmlns:a16="http://schemas.microsoft.com/office/drawing/2014/main" id="{BCA60931-380D-4488-9636-0B644CDB335A}"/>
              </a:ext>
            </a:extLst>
          </p:cNvPr>
          <p:cNvSpPr>
            <a:spLocks xmlns:a="http://schemas.openxmlformats.org/drawingml/2006/main" noGrp="1"/>
          </p:cNvSpPr>
          <p:nvPr/>
        </p:nvSpPr>
        <p:spPr>
          <a:xfrm xmlns:a="http://schemas.openxmlformats.org/drawingml/2006/main">
            <a:off x="685800" y="325755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03  Generate cases</a:t>
            </a:r>
          </a:p>
        </p:txBody>
      </p:sp>
      <p:sp>
        <p:nvSpPr>
          <p:cNvPr id="8" name="">
            <a:extLst xmlns:a="http://schemas.openxmlformats.org/drawingml/2006/main">
              <a:ext uri="{FF2B5EF4-FFF2-40B4-BE49-F238E27FC236}">
                <a16:creationId xmlns:a16="http://schemas.microsoft.com/office/drawing/2014/main" id="{CBDCE823-E74F-4609-9BC4-E4E8BC48FEBC}"/>
              </a:ext>
            </a:extLst>
          </p:cNvPr>
          <p:cNvSpPr>
            <a:spLocks xmlns:a="http://schemas.openxmlformats.org/drawingml/2006/main" noGrp="1"/>
          </p:cNvSpPr>
          <p:nvPr/>
        </p:nvSpPr>
        <p:spPr>
          <a:xfrm xmlns:a="http://schemas.openxmlformats.org/drawingml/2006/main">
            <a:off x="4286250" y="3257550"/>
            <a:ext cx="695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Accept new, valid, unique SymSan outputs.</a:t>
            </a:r>
          </a:p>
        </p:txBody>
      </p:sp>
      <p:sp>
        <p:nvSpPr>
          <p:cNvPr id="9" name="">
            <a:extLst xmlns:a="http://schemas.openxmlformats.org/drawingml/2006/main">
              <a:ext uri="{FF2B5EF4-FFF2-40B4-BE49-F238E27FC236}">
                <a16:creationId xmlns:a16="http://schemas.microsoft.com/office/drawing/2014/main" id="{62F13AD3-433E-4740-9937-3A0ADE22A462}"/>
              </a:ext>
            </a:extLst>
          </p:cNvPr>
          <p:cNvSpPr>
            <a:spLocks xmlns:a="http://schemas.openxmlformats.org/drawingml/2006/main" noGrp="1"/>
          </p:cNvSpPr>
          <p:nvPr/>
        </p:nvSpPr>
        <p:spPr>
          <a:xfrm xmlns:a="http://schemas.openxmlformats.org/drawingml/2006/main">
            <a:off x="685800" y="409575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04  Compare behavior</a:t>
            </a:r>
          </a:p>
        </p:txBody>
      </p:sp>
      <p:sp>
        <p:nvSpPr>
          <p:cNvPr id="10" name="">
            <a:extLst xmlns:a="http://schemas.openxmlformats.org/drawingml/2006/main">
              <a:ext uri="{FF2B5EF4-FFF2-40B4-BE49-F238E27FC236}">
                <a16:creationId xmlns:a16="http://schemas.microsoft.com/office/drawing/2014/main" id="{336ACCE1-C50B-4FDE-AB62-A5EB2666C3A1}"/>
              </a:ext>
            </a:extLst>
          </p:cNvPr>
          <p:cNvSpPr>
            <a:spLocks xmlns:a="http://schemas.openxmlformats.org/drawingml/2006/main" noGrp="1"/>
          </p:cNvSpPr>
          <p:nvPr/>
        </p:nvSpPr>
        <p:spPr>
          <a:xfrm xmlns:a="http://schemas.openxmlformats.org/drawingml/2006/main">
            <a:off x="4286250" y="4095750"/>
            <a:ext cx="695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Execute source, candidate and an independent NumPy reference.</a:t>
            </a:r>
          </a:p>
        </p:txBody>
      </p:sp>
      <p:sp>
        <p:nvSpPr>
          <p:cNvPr id="11" name="">
            <a:extLst xmlns:a="http://schemas.openxmlformats.org/drawingml/2006/main">
              <a:ext uri="{FF2B5EF4-FFF2-40B4-BE49-F238E27FC236}">
                <a16:creationId xmlns:a16="http://schemas.microsoft.com/office/drawing/2014/main" id="{F4430619-E049-411F-9C4C-2BCF2FCB8D1E}"/>
              </a:ext>
            </a:extLst>
          </p:cNvPr>
          <p:cNvSpPr>
            <a:spLocks xmlns:a="http://schemas.openxmlformats.org/drawingml/2006/main" noGrp="1"/>
          </p:cNvSpPr>
          <p:nvPr/>
        </p:nvSpPr>
        <p:spPr>
          <a:xfrm xmlns:a="http://schemas.openxmlformats.org/drawingml/2006/main">
            <a:off x="685800" y="493395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05  Preserve evidence</a:t>
            </a:r>
          </a:p>
        </p:txBody>
      </p:sp>
      <p:sp>
        <p:nvSpPr>
          <p:cNvPr id="12" name="">
            <a:extLst xmlns:a="http://schemas.openxmlformats.org/drawingml/2006/main">
              <a:ext uri="{FF2B5EF4-FFF2-40B4-BE49-F238E27FC236}">
                <a16:creationId xmlns:a16="http://schemas.microsoft.com/office/drawing/2014/main" id="{197E5081-D4D1-4C71-BEFB-2E59CAA5CC3F}"/>
              </a:ext>
            </a:extLst>
          </p:cNvPr>
          <p:cNvSpPr>
            <a:spLocks xmlns:a="http://schemas.openxmlformats.org/drawingml/2006/main" noGrp="1"/>
          </p:cNvSpPr>
          <p:nvPr/>
        </p:nvSpPr>
        <p:spPr>
          <a:xfrm xmlns:a="http://schemas.openxmlformats.org/drawingml/2006/main">
            <a:off x="4286250" y="4933950"/>
            <a:ext cx="695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Record outcomes and replay discrepancies in a run bundle.</a:t>
            </a:r>
          </a:p>
        </p:txBody>
      </p:sp>
    </p:spTree>
    <p:extLst>
      <p:ext uri="{BB962C8B-B14F-4D97-AF65-F5344CB8AC3E}">
        <p14:creationId xmlns:p14="http://schemas.microsoft.com/office/powerpoint/2010/main" val="698395497"/>
      </p:ext>
    </p:extLst>
  </p:cSld>
</p:sld>
</file>

<file path=ppt/slides/slide4.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7A26A8-58B6-4DC8-98F7-8C3DDFA2352B}"/>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How SAGE relates to Einsums</a:t>
            </a:r>
          </a:p>
        </p:txBody>
      </p:sp>
      <p:sp>
        <p:nvSpPr>
          <p:cNvPr id="2" name="">
            <a:extLst xmlns:a="http://schemas.openxmlformats.org/drawingml/2006/main">
              <a:ext uri="{FF2B5EF4-FFF2-40B4-BE49-F238E27FC236}">
                <a16:creationId xmlns:a16="http://schemas.microsoft.com/office/drawing/2014/main" id="{F881E389-5FFB-489D-BB9E-79506505B29C}"/>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4562E10D-665C-40FD-A822-800CC4DA359A}"/>
              </a:ext>
            </a:extLst>
          </p:cNvPr>
          <p:cNvSpPr>
            <a:spLocks xmlns:a="http://schemas.openxmlformats.org/drawingml/2006/main" noGrp="1"/>
          </p:cNvSpPr>
          <p:nvPr/>
        </p:nvSpPr>
        <p:spPr>
          <a:xfrm xmlns:a="http://schemas.openxmlformats.org/drawingml/2006/main">
            <a:off x="685800" y="15716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007F78"/>
                </a:solidFill>
                <a:latin typeface="Helvetica Neue"/>
                <a:ea typeface="Helvetica Neue"/>
                <a:cs typeface="Helvetica Neue"/>
              </a:defRPr>
            </a:pPr>
            <a:r>
              <a:rPr sz="2550" b="1">
                <a:solidFill>
                  <a:srgbClr val="007F78"/>
                </a:solidFill>
                <a:latin typeface="Helvetica Neue"/>
                <a:ea typeface="Helvetica Neue"/>
                <a:cs typeface="Helvetica Neue"/>
              </a:rPr>
              <a:t>Einsums is the scientific library under evaluation.</a:t>
            </a:r>
          </a:p>
        </p:txBody>
      </p:sp>
      <p:graphicFrame>
        <p:nvGraphicFramePr>
          <p:cNvPr id="11" name=""/>
          <p:cNvGraphicFramePr/>
          <p:nvPr/>
        </p:nvGraphicFramePr>
        <p:xfrm>
          <a:off xmlns:a="http://schemas.openxmlformats.org/drawingml/2006/main" x="685800" y="2371725"/>
          <a:ext xmlns:a="http://schemas.openxmlformats.org/drawingml/2006/main" cx="10820400" cy="3305175"/>
        </p:xfrm>
        <a:graphic xmlns:a="http://schemas.openxmlformats.org/drawingml/2006/main">
          <a:graphicData uri="http://schemas.openxmlformats.org/drawingml/2006/table">
            <a:tbl>
              <a:tblPr/>
              <a:tblGrid>
                <a:gridCol w="3190875"/>
                <a:gridCol w="7629525"/>
              </a:tblGrid>
              <a:tr h="552450">
                <a:tc>
                  <a:txBody>
                    <a:bodyPr>
                      <a:noAutofit/>
                    </a:bodyPr>
                    <a:lstStyle/>
                    <a:p>
                      <a:r>
                        <a:rPr sz="1950" b="1">
                          <a:solidFill>
                            <a:srgbClr val="FFFFFF"/>
                          </a:solidFill>
                          <a:latin typeface="Helvetica Neue"/>
                          <a:ea typeface="Helvetica Neue"/>
                          <a:cs typeface="Helvetica Neue"/>
                        </a:rPr>
                        <a:t>Component</a:t>
                      </a:r>
                    </a:p>
                  </a:txBody>
                  <a:tcPr marL="152400" marR="152400" marT="133350" marB="114300" anchor="ctr">
                    <a:solidFill>
                      <a:srgbClr val="142C3B"/>
                    </a:solidFill>
                  </a:tcPr>
                </a:tc>
                <a:tc>
                  <a:txBody>
                    <a:bodyPr>
                      <a:noAutofit/>
                    </a:bodyPr>
                    <a:lstStyle/>
                    <a:p>
                      <a:r>
                        <a:rPr sz="1950" b="1">
                          <a:solidFill>
                            <a:srgbClr val="FFFFFF"/>
                          </a:solidFill>
                          <a:latin typeface="Helvetica Neue"/>
                          <a:ea typeface="Helvetica Neue"/>
                          <a:cs typeface="Helvetica Neue"/>
                        </a:rPr>
                        <a:t>Role in this project</a:t>
                      </a:r>
                    </a:p>
                  </a:txBody>
                  <a:tcPr marL="152400" marR="152400" marT="133350" marB="114300" anchor="ctr">
                    <a:solidFill>
                      <a:srgbClr val="142C3B"/>
                    </a:solidFill>
                  </a:tcPr>
                </a:tc>
              </a:tr>
              <a:tr h="688181">
                <a:tc>
                  <a:txBody>
                    <a:bodyPr>
                      <a:noAutofit/>
                    </a:bodyPr>
                    <a:lstStyle/>
                    <a:p>
                      <a:r>
                        <a:rPr sz="1950" b="0">
                          <a:solidFill>
                            <a:srgbClr val="142C3B"/>
                          </a:solidFill>
                          <a:latin typeface="Helvetica Neue"/>
                          <a:ea typeface="Helvetica Neue"/>
                          <a:cs typeface="Helvetica Neue"/>
                        </a:rPr>
                        <a:t>Einsums C++ / Python</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Pinned source implementation and compatibility reference.</a:t>
                      </a:r>
                    </a:p>
                  </a:txBody>
                  <a:tcPr marL="152400" marR="152400" marT="133350" marB="114300" anchor="ctr">
                    <a:solidFill>
                      <a:srgbClr val="F5F7F6"/>
                    </a:solidFill>
                  </a:tcPr>
                </a:tc>
              </a:tr>
              <a:tr h="688181">
                <a:tc>
                  <a:txBody>
                    <a:bodyPr>
                      <a:noAutofit/>
                    </a:bodyPr>
                    <a:lstStyle/>
                    <a:p>
                      <a:r>
                        <a:rPr sz="1950" b="0">
                          <a:solidFill>
                            <a:srgbClr val="142C3B"/>
                          </a:solidFill>
                          <a:latin typeface="Helvetica Neue"/>
                          <a:ea typeface="Helvetica Neue"/>
                          <a:cs typeface="Helvetica Neue"/>
                        </a:rPr>
                        <a:t>Independent Rust port</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Broad CPU/Python surface via einsums / pyeinsums.</a:t>
                      </a:r>
                    </a:p>
                  </a:txBody>
                  <a:tcPr marL="152400" marR="152400" marT="133350" marB="114300" anchor="ctr">
                    <a:solidFill>
                      <a:srgbClr val="F5F7F6"/>
                    </a:solidFill>
                  </a:tcPr>
                </a:tc>
              </a:tr>
              <a:tr h="688181">
                <a:tc>
                  <a:txBody>
                    <a:bodyPr>
                      <a:noAutofit/>
                    </a:bodyPr>
                    <a:lstStyle/>
                    <a:p>
                      <a:r>
                        <a:rPr sz="1950" b="0">
                          <a:solidFill>
                            <a:srgbClr val="142C3B"/>
                          </a:solidFill>
                          <a:latin typeface="Helvetica Neue"/>
                          <a:ea typeface="Helvetica Neue"/>
                          <a:cs typeface="Helvetica Neue"/>
                        </a:rPr>
                        <a:t>Independent C++20 port</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Broad CPU/Python surface backed by independent C++20.</a:t>
                      </a:r>
                    </a:p>
                  </a:txBody>
                  <a:tcPr marL="152400" marR="152400" marT="133350" marB="114300" anchor="ctr">
                    <a:solidFill>
                      <a:srgbClr val="F5F7F6"/>
                    </a:solidFill>
                  </a:tcPr>
                </a:tc>
              </a:tr>
              <a:tr h="688181">
                <a:tc>
                  <a:txBody>
                    <a:bodyPr>
                      <a:noAutofit/>
                    </a:bodyPr>
                    <a:lstStyle/>
                    <a:p>
                      <a:r>
                        <a:rPr sz="1950" b="0">
                          <a:solidFill>
                            <a:srgbClr val="142C3B"/>
                          </a:solidFill>
                          <a:latin typeface="Helvetica Neue"/>
                          <a:ea typeface="Helvetica Neue"/>
                          <a:cs typeface="Helvetica Neue"/>
                        </a:rPr>
                        <a:t>SAGE / SymSan / NumPy</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Generate cases, compare candidates and retain evidence.</a:t>
                      </a:r>
                    </a:p>
                  </a:txBody>
                  <a:tcPr marL="152400" marR="152400" marT="133350" marB="114300" anchor="ctr">
                    <a:solidFill>
                      <a:srgbClr val="F5F7F6"/>
                    </a:solidFill>
                  </a:tcPr>
                </a:tc>
              </a:tr>
            </a:tbl>
          </a:graphicData>
        </a:graphic>
      </p:graphicFrame>
      <p:sp>
        <p:nvSpPr>
          <p:cNvPr id="5" name="">
            <a:extLst xmlns:a="http://schemas.openxmlformats.org/drawingml/2006/main">
              <a:ext uri="{FF2B5EF4-FFF2-40B4-BE49-F238E27FC236}">
                <a16:creationId xmlns:a16="http://schemas.microsoft.com/office/drawing/2014/main" id="{B419297D-A156-4D83-B26C-84FE0E8423B0}"/>
              </a:ext>
            </a:extLst>
          </p:cNvPr>
          <p:cNvSpPr>
            <a:spLocks xmlns:a="http://schemas.openxmlformats.org/drawingml/2006/main" noGrp="1"/>
          </p:cNvSpPr>
          <p:nvPr/>
        </p:nvSpPr>
        <p:spPr>
          <a:xfrm xmlns:a="http://schemas.openxmlformats.org/drawingml/2006/main">
            <a:off x="685800" y="585787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673"/>
                </a:solidFill>
                <a:latin typeface="Helvetica Neue"/>
                <a:ea typeface="Helvetica Neue"/>
                <a:cs typeface="Helvetica Neue"/>
              </a:defRPr>
            </a:pPr>
            <a:r>
              <a:rPr sz="1800" b="0">
                <a:solidFill>
                  <a:srgbClr val="526673"/>
                </a:solidFill>
                <a:latin typeface="Helvetica Neue"/>
                <a:ea typeface="Helvetica Neue"/>
                <a:cs typeface="Helvetica Neue"/>
              </a:rPr>
              <a:t>Pinned Einsums v1.1.5. Both ports cover CPU/Python. HIP/GPU remains excluded.</a:t>
            </a:r>
          </a:p>
        </p:txBody>
      </p:sp>
    </p:spTree>
    <p:extLst>
      <p:ext uri="{BB962C8B-B14F-4D97-AF65-F5344CB8AC3E}">
        <p14:creationId xmlns:p14="http://schemas.microsoft.com/office/powerpoint/2010/main" val="924486717"/>
      </p:ext>
    </p:extLst>
  </p:cSld>
</p:sld>
</file>

<file path=ppt/slides/slide5.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4B83817-1C49-4C54-BADF-5DDB52320F8B}"/>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Rust and C++20 CPU/Python translations</a:t>
            </a:r>
          </a:p>
        </p:txBody>
      </p:sp>
      <p:sp>
        <p:nvSpPr>
          <p:cNvPr id="2" name="">
            <a:extLst xmlns:a="http://schemas.openxmlformats.org/drawingml/2006/main">
              <a:ext uri="{FF2B5EF4-FFF2-40B4-BE49-F238E27FC236}">
                <a16:creationId xmlns:a16="http://schemas.microsoft.com/office/drawing/2014/main" id="{B48061A0-5804-4EA5-979D-6E909FE56091}"/>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9B829222-6977-41DE-913C-20A8171B5634}"/>
              </a:ext>
            </a:extLst>
          </p:cNvPr>
          <p:cNvSpPr>
            <a:spLocks xmlns:a="http://schemas.openxmlformats.org/drawingml/2006/main" noGrp="1"/>
          </p:cNvSpPr>
          <p:nvPr/>
        </p:nvSpPr>
        <p:spPr>
          <a:xfrm xmlns:a="http://schemas.openxmlformats.org/drawingml/2006/main">
            <a:off x="685800" y="1533525"/>
            <a:ext cx="2286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000" b="1">
                <a:solidFill>
                  <a:srgbClr val="007F78"/>
                </a:solidFill>
                <a:latin typeface="Helvetica Neue"/>
                <a:ea typeface="Helvetica Neue"/>
                <a:cs typeface="Helvetica Neue"/>
              </a:defRPr>
            </a:pPr>
            <a:r>
              <a:rPr sz="6000" b="1">
                <a:solidFill>
                  <a:srgbClr val="007F78"/>
                </a:solidFill>
                <a:latin typeface="Helvetica Neue"/>
                <a:ea typeface="Helvetica Neue"/>
                <a:cs typeface="Helvetica Neue"/>
              </a:rPr>
              <a:t>90</a:t>
            </a:r>
          </a:p>
        </p:txBody>
      </p:sp>
      <p:sp>
        <p:nvSpPr>
          <p:cNvPr id="4" name="">
            <a:extLst xmlns:a="http://schemas.openxmlformats.org/drawingml/2006/main">
              <a:ext uri="{FF2B5EF4-FFF2-40B4-BE49-F238E27FC236}">
                <a16:creationId xmlns:a16="http://schemas.microsoft.com/office/drawing/2014/main" id="{3BFD4A93-9F26-43EF-876C-3A90162D022F}"/>
              </a:ext>
            </a:extLst>
          </p:cNvPr>
          <p:cNvSpPr>
            <a:spLocks xmlns:a="http://schemas.openxmlformats.org/drawingml/2006/main" noGrp="1"/>
          </p:cNvSpPr>
          <p:nvPr/>
        </p:nvSpPr>
        <p:spPr>
          <a:xfrm xmlns:a="http://schemas.openxmlformats.org/drawingml/2006/main">
            <a:off x="685800" y="2486025"/>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CPU Python exports</a:t>
            </a:r>
          </a:p>
        </p:txBody>
      </p:sp>
      <p:sp>
        <p:nvSpPr>
          <p:cNvPr id="5" name="">
            <a:extLst xmlns:a="http://schemas.openxmlformats.org/drawingml/2006/main">
              <a:ext uri="{FF2B5EF4-FFF2-40B4-BE49-F238E27FC236}">
                <a16:creationId xmlns:a16="http://schemas.microsoft.com/office/drawing/2014/main" id="{224D1888-6CA7-43D9-AC09-5B41A9C7106D}"/>
              </a:ext>
            </a:extLst>
          </p:cNvPr>
          <p:cNvSpPr>
            <a:spLocks xmlns:a="http://schemas.openxmlformats.org/drawingml/2006/main" noGrp="1"/>
          </p:cNvSpPr>
          <p:nvPr/>
        </p:nvSpPr>
        <p:spPr>
          <a:xfrm xmlns:a="http://schemas.openxmlformats.org/drawingml/2006/main">
            <a:off x="4476750" y="1533525"/>
            <a:ext cx="2286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000" b="1">
                <a:solidFill>
                  <a:srgbClr val="007F78"/>
                </a:solidFill>
                <a:latin typeface="Helvetica Neue"/>
                <a:ea typeface="Helvetica Neue"/>
                <a:cs typeface="Helvetica Neue"/>
              </a:defRPr>
            </a:pPr>
            <a:r>
              <a:rPr sz="6000" b="1">
                <a:solidFill>
                  <a:srgbClr val="007F78"/>
                </a:solidFill>
                <a:latin typeface="Helvetica Neue"/>
                <a:ea typeface="Helvetica Neue"/>
                <a:cs typeface="Helvetica Neue"/>
              </a:rPr>
              <a:t>16</a:t>
            </a:r>
          </a:p>
        </p:txBody>
      </p:sp>
      <p:sp>
        <p:nvSpPr>
          <p:cNvPr id="6" name="">
            <a:extLst xmlns:a="http://schemas.openxmlformats.org/drawingml/2006/main">
              <a:ext uri="{FF2B5EF4-FFF2-40B4-BE49-F238E27FC236}">
                <a16:creationId xmlns:a16="http://schemas.microsoft.com/office/drawing/2014/main" id="{34EBC1C0-52AE-4F0E-9811-92A77BC708F1}"/>
              </a:ext>
            </a:extLst>
          </p:cNvPr>
          <p:cNvSpPr>
            <a:spLocks xmlns:a="http://schemas.openxmlformats.org/drawingml/2006/main" noGrp="1"/>
          </p:cNvSpPr>
          <p:nvPr/>
        </p:nvSpPr>
        <p:spPr>
          <a:xfrm xmlns:a="http://schemas.openxmlformats.org/drawingml/2006/main">
            <a:off x="4476750" y="2486025"/>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public utility helpers</a:t>
            </a:r>
          </a:p>
        </p:txBody>
      </p:sp>
      <p:sp>
        <p:nvSpPr>
          <p:cNvPr id="7" name="">
            <a:extLst xmlns:a="http://schemas.openxmlformats.org/drawingml/2006/main">
              <a:ext uri="{FF2B5EF4-FFF2-40B4-BE49-F238E27FC236}">
                <a16:creationId xmlns:a16="http://schemas.microsoft.com/office/drawing/2014/main" id="{169BCB2B-028A-44ED-BA89-9201E6318EEE}"/>
              </a:ext>
            </a:extLst>
          </p:cNvPr>
          <p:cNvSpPr>
            <a:spLocks xmlns:a="http://schemas.openxmlformats.org/drawingml/2006/main" noGrp="1"/>
          </p:cNvSpPr>
          <p:nvPr/>
        </p:nvSpPr>
        <p:spPr>
          <a:xfrm xmlns:a="http://schemas.openxmlformats.org/drawingml/2006/main">
            <a:off x="8572500" y="1533525"/>
            <a:ext cx="1714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000" b="1">
                <a:solidFill>
                  <a:srgbClr val="007F78"/>
                </a:solidFill>
                <a:latin typeface="Helvetica Neue"/>
                <a:ea typeface="Helvetica Neue"/>
                <a:cs typeface="Helvetica Neue"/>
              </a:defRPr>
            </a:pPr>
            <a:r>
              <a:rPr sz="6000" b="1">
                <a:solidFill>
                  <a:srgbClr val="007F78"/>
                </a:solidFill>
                <a:latin typeface="Helvetica Neue"/>
                <a:ea typeface="Helvetica Neue"/>
                <a:cs typeface="Helvetica Neue"/>
              </a:rPr>
              <a:t>4</a:t>
            </a:r>
          </a:p>
        </p:txBody>
      </p:sp>
      <p:sp>
        <p:nvSpPr>
          <p:cNvPr id="8" name="">
            <a:extLst xmlns:a="http://schemas.openxmlformats.org/drawingml/2006/main">
              <a:ext uri="{FF2B5EF4-FFF2-40B4-BE49-F238E27FC236}">
                <a16:creationId xmlns:a16="http://schemas.microsoft.com/office/drawing/2014/main" id="{F5621A78-3D56-4E71-8128-965876D6FF6D}"/>
              </a:ext>
            </a:extLst>
          </p:cNvPr>
          <p:cNvSpPr>
            <a:spLocks xmlns:a="http://schemas.openxmlformats.org/drawingml/2006/main" noGrp="1"/>
          </p:cNvSpPr>
          <p:nvPr/>
        </p:nvSpPr>
        <p:spPr>
          <a:xfrm xmlns:a="http://schemas.openxmlformats.org/drawingml/2006/main">
            <a:off x="8572500" y="24860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real / complex dtypes</a:t>
            </a:r>
          </a:p>
        </p:txBody>
      </p:sp>
      <p:sp>
        <p:nvSpPr>
          <p:cNvPr id="9" name="">
            <a:extLst xmlns:a="http://schemas.openxmlformats.org/drawingml/2006/main">
              <a:ext uri="{FF2B5EF4-FFF2-40B4-BE49-F238E27FC236}">
                <a16:creationId xmlns:a16="http://schemas.microsoft.com/office/drawing/2014/main" id="{8EC10D5D-3B88-427F-8E49-545F4903D1D5}"/>
              </a:ext>
            </a:extLst>
          </p:cNvPr>
          <p:cNvSpPr>
            <a:spLocks xmlns:a="http://schemas.openxmlformats.org/drawingml/2006/main" noGrp="1"/>
          </p:cNvSpPr>
          <p:nvPr/>
        </p:nvSpPr>
        <p:spPr>
          <a:xfrm xmlns:a="http://schemas.openxmlformats.org/drawingml/2006/main">
            <a:off x="685800" y="3524250"/>
            <a:ext cx="5238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Tensors and contractions</a:t>
            </a:r>
          </a:p>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Linear algebra and FFT</a:t>
            </a:r>
          </a:p>
        </p:txBody>
      </p:sp>
      <p:sp>
        <p:nvSpPr>
          <p:cNvPr id="10" name="">
            <a:extLst xmlns:a="http://schemas.openxmlformats.org/drawingml/2006/main">
              <a:ext uri="{FF2B5EF4-FFF2-40B4-BE49-F238E27FC236}">
                <a16:creationId xmlns:a16="http://schemas.microsoft.com/office/drawing/2014/main" id="{76AFA608-D0DA-4982-B0E0-6BE723B92B38}"/>
              </a:ext>
            </a:extLst>
          </p:cNvPr>
          <p:cNvSpPr>
            <a:spLocks xmlns:a="http://schemas.openxmlformats.org/drawingml/2006/main" noGrp="1"/>
          </p:cNvSpPr>
          <p:nvPr/>
        </p:nvSpPr>
        <p:spPr>
          <a:xfrm xmlns:a="http://schemas.openxmlformats.org/drawingml/2006/main">
            <a:off x="6381750" y="3524250"/>
            <a:ext cx="5124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Decomposition and storage</a:t>
            </a:r>
          </a:p>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HDF5 and runtime services</a:t>
            </a:r>
          </a:p>
        </p:txBody>
      </p:sp>
      <p:sp>
        <p:nvSpPr>
          <p:cNvPr id="11" name="">
            <a:extLst xmlns:a="http://schemas.openxmlformats.org/drawingml/2006/main">
              <a:ext uri="{FF2B5EF4-FFF2-40B4-BE49-F238E27FC236}">
                <a16:creationId xmlns:a16="http://schemas.microsoft.com/office/drawing/2014/main" id="{BCF4A342-A76A-40C2-9B52-E1C73DF8AACA}"/>
              </a:ext>
            </a:extLst>
          </p:cNvPr>
          <p:cNvSpPr>
            <a:spLocks xmlns:a="http://schemas.openxmlformats.org/drawingml/2006/main" noGrp="1"/>
          </p:cNvSpPr>
          <p:nvPr/>
        </p:nvSpPr>
        <p:spPr>
          <a:xfrm xmlns:a="http://schemas.openxmlformats.org/drawingml/2006/main">
            <a:off x="685800" y="50768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007F78"/>
                </a:solidFill>
                <a:latin typeface="Helvetica Neue"/>
                <a:ea typeface="Helvetica Neue"/>
                <a:cs typeface="Helvetica Neue"/>
              </a:defRPr>
            </a:pPr>
            <a:r>
              <a:rPr sz="2175" b="1">
                <a:solidFill>
                  <a:srgbClr val="007F78"/>
                </a:solidFill>
                <a:latin typeface="Helvetica Neue"/>
                <a:ea typeface="Helvetica Neue"/>
                <a:cs typeface="Helvetica Neue"/>
              </a:rPr>
              <a:t>Each library profile snapshots a checked-in independent port.</a:t>
            </a:r>
          </a:p>
        </p:txBody>
      </p:sp>
      <p:sp>
        <p:nvSpPr>
          <p:cNvPr id="12" name="">
            <a:extLst xmlns:a="http://schemas.openxmlformats.org/drawingml/2006/main">
              <a:ext uri="{FF2B5EF4-FFF2-40B4-BE49-F238E27FC236}">
                <a16:creationId xmlns:a16="http://schemas.microsoft.com/office/drawing/2014/main" id="{D98ED888-9134-4767-9864-B80F34DED450}"/>
              </a:ext>
            </a:extLst>
          </p:cNvPr>
          <p:cNvSpPr>
            <a:spLocks xmlns:a="http://schemas.openxmlformats.org/drawingml/2006/main" noGrp="1"/>
          </p:cNvSpPr>
          <p:nvPr/>
        </p:nvSpPr>
        <p:spPr>
          <a:xfrm xmlns:a="http://schemas.openxmlformats.org/drawingml/2006/main">
            <a:off x="685800" y="57150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673"/>
                </a:solidFill>
                <a:latin typeface="Helvetica Neue"/>
                <a:ea typeface="Helvetica Neue"/>
                <a:cs typeface="Helvetica Neue"/>
              </a:defRPr>
            </a:pPr>
            <a:r>
              <a:rPr sz="1800" b="0">
                <a:solidFill>
                  <a:srgbClr val="526673"/>
                </a:solidFill>
                <a:latin typeface="Helvetica Neue"/>
                <a:ea typeface="Helvetica Neue"/>
                <a:cs typeface="Helvetica Neue"/>
              </a:rPr>
              <a:t>Export coverage records implementation. Exact compatibility remains incomplete.</a:t>
            </a:r>
          </a:p>
        </p:txBody>
      </p:sp>
    </p:spTree>
    <p:extLst>
      <p:ext uri="{BB962C8B-B14F-4D97-AF65-F5344CB8AC3E}">
        <p14:creationId xmlns:p14="http://schemas.microsoft.com/office/powerpoint/2010/main" val="1600372098"/>
      </p:ext>
    </p:extLst>
  </p:cSld>
</p:sld>
</file>

<file path=ppt/slides/slide6.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BF8AC6-A38F-450B-A567-93D719B1DAA1}"/>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Saved Rust replay results</a:t>
            </a:r>
          </a:p>
        </p:txBody>
      </p:sp>
      <p:sp>
        <p:nvSpPr>
          <p:cNvPr id="2" name="">
            <a:extLst xmlns:a="http://schemas.openxmlformats.org/drawingml/2006/main">
              <a:ext uri="{FF2B5EF4-FFF2-40B4-BE49-F238E27FC236}">
                <a16:creationId xmlns:a16="http://schemas.microsoft.com/office/drawing/2014/main" id="{AE6DC44D-7064-4D50-8E42-4BA4621218AA}"/>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EB146410-981D-46EB-A412-59C4F47D2130}"/>
              </a:ext>
            </a:extLst>
          </p:cNvPr>
          <p:cNvSpPr>
            <a:spLocks xmlns:a="http://schemas.openxmlformats.org/drawingml/2006/main" noGrp="1"/>
          </p:cNvSpPr>
          <p:nvPr/>
        </p:nvSpPr>
        <p:spPr>
          <a:xfrm xmlns:a="http://schemas.openxmlformats.org/drawingml/2006/main">
            <a:off x="685800" y="623887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Rust replay saved September 8, 2026. The full-library gate remains INCOMPLETE_SCOPE.</a:t>
            </a:r>
          </a:p>
        </p:txBody>
      </p:sp>
      <p:sp>
        <p:nvSpPr>
          <p:cNvPr id="4" name="">
            <a:extLst xmlns:a="http://schemas.openxmlformats.org/drawingml/2006/main">
              <a:ext uri="{FF2B5EF4-FFF2-40B4-BE49-F238E27FC236}">
                <a16:creationId xmlns:a16="http://schemas.microsoft.com/office/drawing/2014/main" id="{B257DA00-2D0A-438C-9888-CA7060E7A314}"/>
              </a:ext>
            </a:extLst>
          </p:cNvPr>
          <p:cNvSpPr>
            <a:spLocks xmlns:a="http://schemas.openxmlformats.org/drawingml/2006/main" noGrp="1"/>
          </p:cNvSpPr>
          <p:nvPr/>
        </p:nvSpPr>
        <p:spPr>
          <a:xfrm xmlns:a="http://schemas.openxmlformats.org/drawingml/2006/main">
            <a:off x="685800" y="15621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007F78"/>
                </a:solidFill>
                <a:latin typeface="Helvetica Neue"/>
                <a:ea typeface="Helvetica Neue"/>
                <a:cs typeface="Helvetica Neue"/>
              </a:defRPr>
            </a:pPr>
            <a:r>
              <a:rPr sz="2550" b="1">
                <a:solidFill>
                  <a:srgbClr val="007F78"/>
                </a:solidFill>
                <a:latin typeface="Helvetica Neue"/>
                <a:ea typeface="Helvetica Neue"/>
                <a:cs typeface="Helvetica Neue"/>
              </a:rPr>
              <a:t>128 inputs × 31 API groups × 4 dtypes = 15,872 checks</a:t>
            </a:r>
          </a:p>
        </p:txBody>
      </p:sp>
      <p:graphicFrame>
        <p:nvGraphicFramePr>
          <p:cNvPr id="14" name="Chart"/>
          <p:cNvGraphicFramePr/>
          <p:nvPr/>
        </p:nvGraphicFramePr>
        <p:xfrm>
          <a:off xmlns:a="http://schemas.openxmlformats.org/drawingml/2006/main" x="552450" y="2495550"/>
          <a:ext xmlns:a="http://schemas.openxmlformats.org/drawingml/2006/main" cx="10953750" cy="2457450"/>
        </p:xfrm>
        <a:graphic xmlns:a="http://schemas.openxmlformats.org/drawingml/2006/main">
          <a:graphicData uri="http://schemas.openxmlformats.org/drawingml/2006/chart">
            <c:chart xmlns:r="http://schemas.openxmlformats.org/officeDocument/2006/relationships" xmlns:c="http://schemas.openxmlformats.org/drawingml/2006/chart" r:id="R8ea1ac0d2a4d42ff"/>
          </a:graphicData>
        </a:graphic>
      </p:graphicFrame>
      <p:sp>
        <p:nvSpPr>
          <p:cNvPr id="6" name="">
            <a:extLst xmlns:a="http://schemas.openxmlformats.org/drawingml/2006/main">
              <a:ext uri="{FF2B5EF4-FFF2-40B4-BE49-F238E27FC236}">
                <a16:creationId xmlns:a16="http://schemas.microsoft.com/office/drawing/2014/main" id="{992A487E-4427-42CF-9462-D7AC1F05421C}"/>
              </a:ext>
            </a:extLst>
          </p:cNvPr>
          <p:cNvSpPr>
            <a:spLocks xmlns:a="http://schemas.openxmlformats.org/drawingml/2006/main" noGrp="1"/>
          </p:cNvSpPr>
          <p:nvPr/>
        </p:nvSpPr>
        <p:spPr>
          <a:xfrm xmlns:a="http://schemas.openxmlformats.org/drawingml/2006/main">
            <a:off x="685800" y="51530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42C3B"/>
                </a:solidFill>
                <a:latin typeface="Helvetica Neue"/>
                <a:ea typeface="Helvetica Neue"/>
                <a:cs typeface="Helvetica Neue"/>
              </a:defRPr>
            </a:pPr>
            <a:r>
              <a:rPr sz="2175" b="1">
                <a:solidFill>
                  <a:srgbClr val="142C3B"/>
                </a:solidFill>
                <a:latin typeface="Helvetica Neue"/>
                <a:ea typeface="Helvetica Neue"/>
                <a:cs typeface="Helvetica Neue"/>
              </a:rPr>
              <a:t>The Rust candidate met every replay numerical check.</a:t>
            </a:r>
          </a:p>
        </p:txBody>
      </p:sp>
      <p:sp>
        <p:nvSpPr>
          <p:cNvPr id="7" name="">
            <a:extLst xmlns:a="http://schemas.openxmlformats.org/drawingml/2006/main">
              <a:ext uri="{FF2B5EF4-FFF2-40B4-BE49-F238E27FC236}">
                <a16:creationId xmlns:a16="http://schemas.microsoft.com/office/drawing/2014/main" id="{94CC501E-A24C-46D9-AE38-821538D61863}"/>
              </a:ext>
            </a:extLst>
          </p:cNvPr>
          <p:cNvSpPr>
            <a:spLocks xmlns:a="http://schemas.openxmlformats.org/drawingml/2006/main" noGrp="1"/>
          </p:cNvSpPr>
          <p:nvPr/>
        </p:nvSpPr>
        <p:spPr>
          <a:xfrm xmlns:a="http://schemas.openxmlformats.org/drawingml/2006/main">
            <a:off x="685800" y="56769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526673"/>
                </a:solidFill>
                <a:latin typeface="Helvetica Neue"/>
                <a:ea typeface="Helvetica Neue"/>
                <a:cs typeface="Helvetica Neue"/>
              </a:defRPr>
            </a:pPr>
            <a:r>
              <a:rPr sz="1950" b="0">
                <a:solidFill>
                  <a:srgbClr val="526673"/>
                </a:solidFill>
                <a:latin typeface="Helvetica Neue"/>
                <a:ea typeface="Helvetica Neue"/>
                <a:cs typeface="Helvetica Neue"/>
              </a:rPr>
              <a:t>Corpus replay expands API checks without adding new symbolic paths.</a:t>
            </a:r>
          </a:p>
        </p:txBody>
      </p:sp>
    </p:spTree>
    <p:extLst>
      <p:ext uri="{BB962C8B-B14F-4D97-AF65-F5344CB8AC3E}">
        <p14:creationId xmlns:p14="http://schemas.microsoft.com/office/powerpoint/2010/main" val="1379305843"/>
      </p:ext>
    </p:extLst>
  </p:cSld>
</p:sld>
</file>

<file path=ppt/slides/slide7.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915F06-20E1-407F-83E5-F689065351BD}"/>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How the comparison is interpreted</a:t>
            </a:r>
          </a:p>
        </p:txBody>
      </p:sp>
      <p:sp>
        <p:nvSpPr>
          <p:cNvPr id="2" name="">
            <a:extLst xmlns:a="http://schemas.openxmlformats.org/drawingml/2006/main">
              <a:ext uri="{FF2B5EF4-FFF2-40B4-BE49-F238E27FC236}">
                <a16:creationId xmlns:a16="http://schemas.microsoft.com/office/drawing/2014/main" id="{E8B47B2E-C877-4ACB-BB4A-FA45CE347C68}"/>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07</a:t>
            </a:r>
          </a:p>
        </p:txBody>
      </p:sp>
      <p:graphicFrame>
        <p:nvGraphicFramePr>
          <p:cNvPr id="9" name=""/>
          <p:cNvGraphicFramePr/>
          <p:nvPr/>
        </p:nvGraphicFramePr>
        <p:xfrm>
          <a:off xmlns:a="http://schemas.openxmlformats.org/drawingml/2006/main" x="685800" y="1743075"/>
          <a:ext xmlns:a="http://schemas.openxmlformats.org/drawingml/2006/main" cx="10820400" cy="3552825"/>
        </p:xfrm>
        <a:graphic xmlns:a="http://schemas.openxmlformats.org/drawingml/2006/main">
          <a:graphicData uri="http://schemas.openxmlformats.org/drawingml/2006/table">
            <a:tbl>
              <a:tblPr/>
              <a:tblGrid>
                <a:gridCol w="4476750"/>
                <a:gridCol w="6343650"/>
              </a:tblGrid>
              <a:tr h="552450">
                <a:tc>
                  <a:txBody>
                    <a:bodyPr>
                      <a:noAutofit/>
                    </a:bodyPr>
                    <a:lstStyle/>
                    <a:p>
                      <a:r>
                        <a:rPr sz="1950" b="1">
                          <a:solidFill>
                            <a:srgbClr val="FFFFFF"/>
                          </a:solidFill>
                          <a:latin typeface="Helvetica Neue"/>
                          <a:ea typeface="Helvetica Neue"/>
                          <a:cs typeface="Helvetica Neue"/>
                        </a:rPr>
                        <a:t>Source / candidate / reference</a:t>
                      </a:r>
                    </a:p>
                  </a:txBody>
                  <a:tcPr marL="152400" marR="152400" marT="133350" marB="114300" anchor="ctr">
                    <a:solidFill>
                      <a:srgbClr val="142C3B"/>
                    </a:solidFill>
                  </a:tcPr>
                </a:tc>
                <a:tc>
                  <a:txBody>
                    <a:bodyPr>
                      <a:noAutofit/>
                    </a:bodyPr>
                    <a:lstStyle/>
                    <a:p>
                      <a:r>
                        <a:rPr sz="1950" b="1">
                          <a:solidFill>
                            <a:srgbClr val="FFFFFF"/>
                          </a:solidFill>
                          <a:latin typeface="Helvetica Neue"/>
                          <a:ea typeface="Helvetica Neue"/>
                          <a:cs typeface="Helvetica Neue"/>
                        </a:rPr>
                        <a:t>Interpretation</a:t>
                      </a:r>
                    </a:p>
                  </a:txBody>
                  <a:tcPr marL="152400" marR="152400" marT="133350" marB="114300" anchor="ctr">
                    <a:solidFill>
                      <a:srgbClr val="142C3B"/>
                    </a:solidFill>
                  </a:tcPr>
                </a:tc>
              </a:tr>
              <a:tr h="750094">
                <a:tc>
                  <a:txBody>
                    <a:bodyPr>
                      <a:noAutofit/>
                    </a:bodyPr>
                    <a:lstStyle/>
                    <a:p>
                      <a:r>
                        <a:rPr sz="1950" b="0">
                          <a:solidFill>
                            <a:srgbClr val="142C3B"/>
                          </a:solidFill>
                          <a:latin typeface="Helvetica Neue"/>
                          <a:ea typeface="Helvetica Neue"/>
                          <a:cs typeface="Helvetica Neue"/>
                        </a:rPr>
                        <a:t>All agree within policy</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Observed agreement for that case and contract.</a:t>
                      </a:r>
                    </a:p>
                  </a:txBody>
                  <a:tcPr marL="152400" marR="152400" marT="133350" marB="114300" anchor="ctr">
                    <a:solidFill>
                      <a:srgbClr val="F5F7F6"/>
                    </a:solidFill>
                  </a:tcPr>
                </a:tc>
              </a:tr>
              <a:tr h="750094">
                <a:tc>
                  <a:txBody>
                    <a:bodyPr>
                      <a:noAutofit/>
                    </a:bodyPr>
                    <a:lstStyle/>
                    <a:p>
                      <a:r>
                        <a:rPr sz="1950" b="0">
                          <a:solidFill>
                            <a:srgbClr val="142C3B"/>
                          </a:solidFill>
                          <a:latin typeface="Helvetica Neue"/>
                          <a:ea typeface="Helvetica Neue"/>
                          <a:cs typeface="Helvetica Neue"/>
                        </a:rPr>
                        <a:t>Candidate differs, source agrees</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Candidate discrepancy to replay and diagnose.</a:t>
                      </a:r>
                    </a:p>
                  </a:txBody>
                  <a:tcPr marL="152400" marR="152400" marT="133350" marB="114300" anchor="ctr">
                    <a:solidFill>
                      <a:srgbClr val="F5F7F6"/>
                    </a:solidFill>
                  </a:tcPr>
                </a:tc>
              </a:tr>
              <a:tr h="750094">
                <a:tc>
                  <a:txBody>
                    <a:bodyPr>
                      <a:noAutofit/>
                    </a:bodyPr>
                    <a:lstStyle/>
                    <a:p>
                      <a:r>
                        <a:rPr sz="1950" b="0">
                          <a:solidFill>
                            <a:srgbClr val="142C3B"/>
                          </a:solidFill>
                          <a:latin typeface="Helvetica Neue"/>
                          <a:ea typeface="Helvetica Neue"/>
                          <a:cs typeface="Helvetica Neue"/>
                        </a:rPr>
                        <a:t>Source fails, candidate meets policy</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REFERENCE_DISAGREEMENT; review source contract and oracle.</a:t>
                      </a:r>
                    </a:p>
                  </a:txBody>
                  <a:tcPr marL="152400" marR="152400" marT="133350" marB="114300" anchor="ctr">
                    <a:solidFill>
                      <a:srgbClr val="F5F7F6"/>
                    </a:solidFill>
                  </a:tcPr>
                </a:tc>
              </a:tr>
              <a:tr h="750094">
                <a:tc>
                  <a:txBody>
                    <a:bodyPr>
                      <a:noAutofit/>
                    </a:bodyPr>
                    <a:lstStyle/>
                    <a:p>
                      <a:r>
                        <a:rPr sz="1950" b="0">
                          <a:solidFill>
                            <a:srgbClr val="142C3B"/>
                          </a:solidFill>
                          <a:latin typeface="Helvetica Neue"/>
                          <a:ea typeface="Helvetica Neue"/>
                          <a:cs typeface="Helvetica Neue"/>
                        </a:rPr>
                        <a:t>Shape, error or execution differs</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Preserve structural differences, exceptions and timeouts.</a:t>
                      </a:r>
                    </a:p>
                  </a:txBody>
                  <a:tcPr marL="152400" marR="152400" marT="133350" marB="114300" anchor="ctr">
                    <a:solidFill>
                      <a:srgbClr val="F5F7F6"/>
                    </a:solidFill>
                  </a:tcPr>
                </a:tc>
              </a:tr>
            </a:tbl>
          </a:graphicData>
        </a:graphic>
      </p:graphicFrame>
      <p:sp>
        <p:nvSpPr>
          <p:cNvPr id="4" name="">
            <a:extLst xmlns:a="http://schemas.openxmlformats.org/drawingml/2006/main">
              <a:ext uri="{FF2B5EF4-FFF2-40B4-BE49-F238E27FC236}">
                <a16:creationId xmlns:a16="http://schemas.microsoft.com/office/drawing/2014/main" id="{21F8C2E1-A197-4A3E-A756-75D2833195EB}"/>
              </a:ext>
            </a:extLst>
          </p:cNvPr>
          <p:cNvSpPr>
            <a:spLocks xmlns:a="http://schemas.openxmlformats.org/drawingml/2006/main" noGrp="1"/>
          </p:cNvSpPr>
          <p:nvPr/>
        </p:nvSpPr>
        <p:spPr>
          <a:xfrm xmlns:a="http://schemas.openxmlformats.org/drawingml/2006/main">
            <a:off x="685800" y="56578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007F78"/>
                </a:solidFill>
                <a:latin typeface="Helvetica Neue"/>
                <a:ea typeface="Helvetica Neue"/>
                <a:cs typeface="Helvetica Neue"/>
              </a:defRPr>
            </a:pPr>
            <a:r>
              <a:rPr sz="2175" b="1">
                <a:solidFill>
                  <a:srgbClr val="007F78"/>
                </a:solidFill>
                <a:latin typeface="Helvetica Neue"/>
                <a:ea typeface="Helvetica Neue"/>
                <a:cs typeface="Helvetica Neue"/>
              </a:rPr>
              <a:t>A mathematical correction may intentionally break source compatibility.</a:t>
            </a:r>
          </a:p>
        </p:txBody>
      </p:sp>
    </p:spTree>
    <p:extLst>
      <p:ext uri="{BB962C8B-B14F-4D97-AF65-F5344CB8AC3E}">
        <p14:creationId xmlns:p14="http://schemas.microsoft.com/office/powerpoint/2010/main" val="718424142"/>
      </p:ext>
    </p:extLst>
  </p:cSld>
</p:sld>
</file>

<file path=ppt/slides/slide8.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AD6893-1556-4113-BC93-DCE5FDD9F1C4}"/>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C++20 translation and checks</a:t>
            </a:r>
          </a:p>
        </p:txBody>
      </p:sp>
      <p:sp>
        <p:nvSpPr>
          <p:cNvPr id="2" name="">
            <a:extLst xmlns:a="http://schemas.openxmlformats.org/drawingml/2006/main">
              <a:ext uri="{FF2B5EF4-FFF2-40B4-BE49-F238E27FC236}">
                <a16:creationId xmlns:a16="http://schemas.microsoft.com/office/drawing/2014/main" id="{62C32E4A-23D2-4030-8FD4-0E446085033E}"/>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043EA4D0-A500-4EDE-80B0-2F3889F309C8}"/>
              </a:ext>
            </a:extLst>
          </p:cNvPr>
          <p:cNvSpPr>
            <a:spLocks xmlns:a="http://schemas.openxmlformats.org/drawingml/2006/main" noGrp="1"/>
          </p:cNvSpPr>
          <p:nvPr/>
        </p:nvSpPr>
        <p:spPr>
          <a:xfrm xmlns:a="http://schemas.openxmlformats.org/drawingml/2006/main">
            <a:off x="685800" y="1762125"/>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Independent port</a:t>
            </a:r>
          </a:p>
        </p:txBody>
      </p:sp>
      <p:sp>
        <p:nvSpPr>
          <p:cNvPr id="4" name="">
            <a:extLst xmlns:a="http://schemas.openxmlformats.org/drawingml/2006/main">
              <a:ext uri="{FF2B5EF4-FFF2-40B4-BE49-F238E27FC236}">
                <a16:creationId xmlns:a16="http://schemas.microsoft.com/office/drawing/2014/main" id="{75353397-1469-4895-9BB2-2F3F049569C4}"/>
              </a:ext>
            </a:extLst>
          </p:cNvPr>
          <p:cNvSpPr>
            <a:spLocks xmlns:a="http://schemas.openxmlformats.org/drawingml/2006/main" noGrp="1"/>
          </p:cNvSpPr>
          <p:nvPr/>
        </p:nvSpPr>
        <p:spPr>
          <a:xfrm xmlns:a="http://schemas.openxmlformats.org/drawingml/2006/main">
            <a:off x="4219575" y="1762125"/>
            <a:ext cx="728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42C3B"/>
                </a:solidFill>
                <a:latin typeface="Helvetica Neue"/>
                <a:ea typeface="Helvetica Neue"/>
                <a:cs typeface="Helvetica Neue"/>
              </a:defRPr>
            </a:pPr>
            <a:r>
              <a:rPr sz="2100" b="0">
                <a:solidFill>
                  <a:srgbClr val="142C3B"/>
                </a:solidFill>
                <a:latin typeface="Helvetica Neue"/>
                <a:ea typeface="Helvetica Neue"/>
                <a:cs typeface="Helvetica Neue"/>
              </a:rPr>
              <a:t>90 core exports, 16 helpers and the broad CPU/Python modules.</a:t>
            </a:r>
          </a:p>
        </p:txBody>
      </p:sp>
      <p:sp>
        <p:nvSpPr>
          <p:cNvPr id="5" name="">
            <a:extLst xmlns:a="http://schemas.openxmlformats.org/drawingml/2006/main">
              <a:ext uri="{FF2B5EF4-FFF2-40B4-BE49-F238E27FC236}">
                <a16:creationId xmlns:a16="http://schemas.microsoft.com/office/drawing/2014/main" id="{8579EF8C-D480-4222-AE59-9FAC109D7D89}"/>
              </a:ext>
            </a:extLst>
          </p:cNvPr>
          <p:cNvSpPr>
            <a:spLocks xmlns:a="http://schemas.openxmlformats.org/drawingml/2006/main" noGrp="1"/>
          </p:cNvSpPr>
          <p:nvPr/>
        </p:nvSpPr>
        <p:spPr>
          <a:xfrm xmlns:a="http://schemas.openxmlformats.org/drawingml/2006/main">
            <a:off x="685800" y="280035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Fresh SymSan cases</a:t>
            </a:r>
          </a:p>
        </p:txBody>
      </p:sp>
      <p:sp>
        <p:nvSpPr>
          <p:cNvPr id="6" name="">
            <a:extLst xmlns:a="http://schemas.openxmlformats.org/drawingml/2006/main">
              <a:ext uri="{FF2B5EF4-FFF2-40B4-BE49-F238E27FC236}">
                <a16:creationId xmlns:a16="http://schemas.microsoft.com/office/drawing/2014/main" id="{B473299D-3C29-405D-81D9-0544808DB6EB}"/>
              </a:ext>
            </a:extLst>
          </p:cNvPr>
          <p:cNvSpPr>
            <a:spLocks xmlns:a="http://schemas.openxmlformats.org/drawingml/2006/main" noGrp="1"/>
          </p:cNvSpPr>
          <p:nvPr/>
        </p:nvSpPr>
        <p:spPr>
          <a:xfrm xmlns:a="http://schemas.openxmlformats.org/drawingml/2006/main">
            <a:off x="4219575" y="2800350"/>
            <a:ext cx="728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42C3B"/>
                </a:solidFill>
                <a:latin typeface="Helvetica Neue"/>
                <a:ea typeface="Helvetica Neue"/>
                <a:cs typeface="Helvetica Neue"/>
              </a:defRPr>
            </a:pPr>
            <a:r>
              <a:rPr sz="2100" b="0">
                <a:solidFill>
                  <a:srgbClr val="142C3B"/>
                </a:solidFill>
                <a:latin typeface="Helvetica Neue"/>
                <a:ea typeface="Helvetica Neue"/>
                <a:cs typeface="Helvetica Neue"/>
              </a:rPr>
              <a:t>128/128 PASS against Einsums and NumPy across 23 operations, through native and Python calls.</a:t>
            </a:r>
          </a:p>
        </p:txBody>
      </p:sp>
      <p:sp>
        <p:nvSpPr>
          <p:cNvPr id="7" name="">
            <a:extLst xmlns:a="http://schemas.openxmlformats.org/drawingml/2006/main">
              <a:ext uri="{FF2B5EF4-FFF2-40B4-BE49-F238E27FC236}">
                <a16:creationId xmlns:a16="http://schemas.microsoft.com/office/drawing/2014/main" id="{EE44314A-55B1-46D6-A9D7-195E88F87014}"/>
              </a:ext>
            </a:extLst>
          </p:cNvPr>
          <p:cNvSpPr>
            <a:spLocks xmlns:a="http://schemas.openxmlformats.org/drawingml/2006/main" noGrp="1"/>
          </p:cNvSpPr>
          <p:nvPr/>
        </p:nvSpPr>
        <p:spPr>
          <a:xfrm xmlns:a="http://schemas.openxmlformats.org/drawingml/2006/main">
            <a:off x="685800" y="3838575"/>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API replay and native grid</a:t>
            </a:r>
          </a:p>
        </p:txBody>
      </p:sp>
      <p:sp>
        <p:nvSpPr>
          <p:cNvPr id="8" name="">
            <a:extLst xmlns:a="http://schemas.openxmlformats.org/drawingml/2006/main">
              <a:ext uri="{FF2B5EF4-FFF2-40B4-BE49-F238E27FC236}">
                <a16:creationId xmlns:a16="http://schemas.microsoft.com/office/drawing/2014/main" id="{8020C0C1-0C3F-4FFC-B4D9-CE6BA2949E12}"/>
              </a:ext>
            </a:extLst>
          </p:cNvPr>
          <p:cNvSpPr>
            <a:spLocks xmlns:a="http://schemas.openxmlformats.org/drawingml/2006/main" noGrp="1"/>
          </p:cNvSpPr>
          <p:nvPr/>
        </p:nvSpPr>
        <p:spPr>
          <a:xfrm xmlns:a="http://schemas.openxmlformats.org/drawingml/2006/main">
            <a:off x="4219575" y="3838575"/>
            <a:ext cx="728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42C3B"/>
                </a:solidFill>
                <a:latin typeface="Helvetica Neue"/>
                <a:ea typeface="Helvetica Neue"/>
                <a:cs typeface="Helvetica Neue"/>
              </a:defRPr>
            </a:pPr>
            <a:r>
              <a:rPr sz="2100" b="0">
                <a:solidFill>
                  <a:srgbClr val="142C3B"/>
                </a:solidFill>
                <a:latin typeface="Helvetica Neue"/>
                <a:ea typeface="Helvetica Neue"/>
                <a:cs typeface="Helvetica Neue"/>
              </a:rPr>
              <a:t>15,872 replay checks, 2,056 reference disagreements. The native grid passes 4,416 cases.</a:t>
            </a:r>
          </a:p>
        </p:txBody>
      </p:sp>
      <p:sp>
        <p:nvSpPr>
          <p:cNvPr id="9" name="">
            <a:extLst xmlns:a="http://schemas.openxmlformats.org/drawingml/2006/main">
              <a:ext uri="{FF2B5EF4-FFF2-40B4-BE49-F238E27FC236}">
                <a16:creationId xmlns:a16="http://schemas.microsoft.com/office/drawing/2014/main" id="{A4348026-0587-4F62-A51F-F9F296BC7C0F}"/>
              </a:ext>
            </a:extLst>
          </p:cNvPr>
          <p:cNvSpPr>
            <a:spLocks xmlns:a="http://schemas.openxmlformats.org/drawingml/2006/main" noGrp="1"/>
          </p:cNvSpPr>
          <p:nvPr/>
        </p:nvSpPr>
        <p:spPr>
          <a:xfrm xmlns:a="http://schemas.openxmlformats.org/drawingml/2006/main">
            <a:off x="685800" y="48768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Ownership and safety</a:t>
            </a:r>
          </a:p>
        </p:txBody>
      </p:sp>
      <p:sp>
        <p:nvSpPr>
          <p:cNvPr id="10" name="">
            <a:extLst xmlns:a="http://schemas.openxmlformats.org/drawingml/2006/main">
              <a:ext uri="{FF2B5EF4-FFF2-40B4-BE49-F238E27FC236}">
                <a16:creationId xmlns:a16="http://schemas.microsoft.com/office/drawing/2014/main" id="{2D472850-993F-412D-B9FE-08DBAE55496F}"/>
              </a:ext>
            </a:extLst>
          </p:cNvPr>
          <p:cNvSpPr>
            <a:spLocks xmlns:a="http://schemas.openxmlformats.org/drawingml/2006/main" noGrp="1"/>
          </p:cNvSpPr>
          <p:nvPr/>
        </p:nvSpPr>
        <p:spPr>
          <a:xfrm xmlns:a="http://schemas.openxmlformats.org/drawingml/2006/main">
            <a:off x="4219575" y="4876800"/>
            <a:ext cx="728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42C3B"/>
                </a:solidFill>
                <a:latin typeface="Helvetica Neue"/>
                <a:ea typeface="Helvetica Neue"/>
                <a:cs typeface="Helvetica Neue"/>
              </a:defRPr>
            </a:pPr>
            <a:r>
              <a:rPr sz="2100" b="0">
                <a:solidFill>
                  <a:srgbClr val="142C3B"/>
                </a:solidFill>
                <a:latin typeface="Helvetica Neue"/>
                <a:ea typeface="Helvetica Neue"/>
                <a:cs typeface="Helvetica Neue"/>
              </a:rPr>
              <a:t>Views, runtime and storage tests pass. Native contracts pass ASan/UBSan.</a:t>
            </a:r>
          </a:p>
        </p:txBody>
      </p:sp>
      <p:sp>
        <p:nvSpPr>
          <p:cNvPr id="11" name="">
            <a:extLst xmlns:a="http://schemas.openxmlformats.org/drawingml/2006/main">
              <a:ext uri="{FF2B5EF4-FFF2-40B4-BE49-F238E27FC236}">
                <a16:creationId xmlns:a16="http://schemas.microsoft.com/office/drawing/2014/main" id="{6BD5C5E4-915F-41E5-A823-E8648A8DC332}"/>
              </a:ext>
            </a:extLst>
          </p:cNvPr>
          <p:cNvSpPr>
            <a:spLocks xmlns:a="http://schemas.openxmlformats.org/drawingml/2006/main" noGrp="1"/>
          </p:cNvSpPr>
          <p:nvPr/>
        </p:nvSpPr>
        <p:spPr>
          <a:xfrm xmlns:a="http://schemas.openxmlformats.org/drawingml/2006/main">
            <a:off x="685800" y="58578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1">
                <a:solidFill>
                  <a:srgbClr val="007F78"/>
                </a:solidFill>
                <a:latin typeface="Helvetica Neue"/>
                <a:ea typeface="Helvetica Neue"/>
                <a:cs typeface="Helvetica Neue"/>
              </a:defRPr>
            </a:pPr>
            <a:r>
              <a:rPr sz="1875" b="1">
                <a:solidFill>
                  <a:srgbClr val="007F78"/>
                </a:solidFill>
                <a:latin typeface="Helvetica Neue"/>
                <a:ea typeface="Helvetica Neue"/>
                <a:cs typeface="Helvetica Neue"/>
              </a:rPr>
              <a:t>129 project tests pass. Installed C++ headers and Python wheel checks pass.</a:t>
            </a:r>
          </a:p>
        </p:txBody>
      </p:sp>
    </p:spTree>
    <p:extLst>
      <p:ext uri="{BB962C8B-B14F-4D97-AF65-F5344CB8AC3E}">
        <p14:creationId xmlns:p14="http://schemas.microsoft.com/office/powerpoint/2010/main" val="1160794747"/>
      </p:ext>
    </p:extLst>
  </p:cSld>
</p:sld>
</file>

<file path=ppt/slides/slide9.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AF06D7-3146-40AC-948E-2754994E5BD7}"/>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SymSan campaign boundary</a:t>
            </a:r>
          </a:p>
        </p:txBody>
      </p:sp>
      <p:sp>
        <p:nvSpPr>
          <p:cNvPr id="2" name="">
            <a:extLst xmlns:a="http://schemas.openxmlformats.org/drawingml/2006/main">
              <a:ext uri="{FF2B5EF4-FFF2-40B4-BE49-F238E27FC236}">
                <a16:creationId xmlns:a16="http://schemas.microsoft.com/office/drawing/2014/main" id="{8A00F7AF-98AC-435A-9F57-522FB440958D}"/>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09</a:t>
            </a:r>
          </a:p>
        </p:txBody>
      </p:sp>
      <p:graphicFrame>
        <p:nvGraphicFramePr>
          <p:cNvPr id="10" name=""/>
          <p:cNvGraphicFramePr/>
          <p:nvPr/>
        </p:nvGraphicFramePr>
        <p:xfrm>
          <a:off xmlns:a="http://schemas.openxmlformats.org/drawingml/2006/main" x="685800" y="1733550"/>
          <a:ext xmlns:a="http://schemas.openxmlformats.org/drawingml/2006/main" cx="10820400" cy="3362325"/>
        </p:xfrm>
        <a:graphic xmlns:a="http://schemas.openxmlformats.org/drawingml/2006/main">
          <a:graphicData uri="http://schemas.openxmlformats.org/drawingml/2006/table">
            <a:tbl>
              <a:tblPr/>
              <a:tblGrid>
                <a:gridCol w="3714750"/>
                <a:gridCol w="7105650"/>
              </a:tblGrid>
              <a:tr h="552450">
                <a:tc>
                  <a:txBody>
                    <a:bodyPr>
                      <a:noAutofit/>
                    </a:bodyPr>
                    <a:lstStyle/>
                    <a:p>
                      <a:r>
                        <a:rPr sz="1950" b="1">
                          <a:solidFill>
                            <a:srgbClr val="FFFFFF"/>
                          </a:solidFill>
                          <a:latin typeface="Helvetica Neue"/>
                          <a:ea typeface="Helvetica Neue"/>
                          <a:cs typeface="Helvetica Neue"/>
                        </a:rPr>
                        <a:t>Execution layer</a:t>
                      </a:r>
                    </a:p>
                  </a:txBody>
                  <a:tcPr marL="152400" marR="152400" marT="133350" marB="114300" anchor="ctr">
                    <a:solidFill>
                      <a:srgbClr val="142C3B"/>
                    </a:solidFill>
                  </a:tcPr>
                </a:tc>
                <a:tc>
                  <a:txBody>
                    <a:bodyPr>
                      <a:noAutofit/>
                    </a:bodyPr>
                    <a:lstStyle/>
                    <a:p>
                      <a:r>
                        <a:rPr sz="1950" b="1">
                          <a:solidFill>
                            <a:srgbClr val="FFFFFF"/>
                          </a:solidFill>
                          <a:latin typeface="Helvetica Neue"/>
                          <a:ea typeface="Helvetica Neue"/>
                          <a:cs typeface="Helvetica Neue"/>
                        </a:rPr>
                        <a:t>Current treatment</a:t>
                      </a:r>
                    </a:p>
                  </a:txBody>
                  <a:tcPr marL="152400" marR="152400" marT="133350" marB="114300" anchor="ctr">
                    <a:solidFill>
                      <a:srgbClr val="142C3B"/>
                    </a:solidFill>
                  </a:tcPr>
                </a:tc>
              </a:tr>
              <a:tr h="702469">
                <a:tc>
                  <a:txBody>
                    <a:bodyPr>
                      <a:noAutofit/>
                    </a:bodyPr>
                    <a:lstStyle/>
                    <a:p>
                      <a:r>
                        <a:rPr sz="1950" b="0">
                          <a:solidFill>
                            <a:srgbClr val="142C3B"/>
                          </a:solidFill>
                          <a:latin typeface="Helvetica Neue"/>
                          <a:ea typeface="Helvetica Neue"/>
                          <a:cs typeface="Helvetica Neue"/>
                        </a:rPr>
                        <a:t>Input decoder</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Instrumented by SymSan; operation and dimension branches.</a:t>
                      </a:r>
                    </a:p>
                  </a:txBody>
                  <a:tcPr marL="152400" marR="152400" marT="133350" marB="114300" anchor="ctr">
                    <a:solidFill>
                      <a:srgbClr val="F5F7F6"/>
                    </a:solidFill>
                  </a:tcPr>
                </a:tc>
              </a:tr>
              <a:tr h="702469">
                <a:tc>
                  <a:txBody>
                    <a:bodyPr>
                      <a:noAutofit/>
                    </a:bodyPr>
                    <a:lstStyle/>
                    <a:p>
                      <a:r>
                        <a:rPr sz="1950" b="0">
                          <a:solidFill>
                            <a:srgbClr val="142C3B"/>
                          </a:solidFill>
                          <a:latin typeface="Helvetica Neue"/>
                          <a:ea typeface="Helvetica Neue"/>
                          <a:cs typeface="Helvetica Neue"/>
                        </a:rPr>
                        <a:t>Einsums C++ computation</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Runs natively; internal library paths are not explored.</a:t>
                      </a:r>
                    </a:p>
                  </a:txBody>
                  <a:tcPr marL="152400" marR="152400" marT="133350" marB="114300" anchor="ctr">
                    <a:solidFill>
                      <a:srgbClr val="F5F7F6"/>
                    </a:solidFill>
                  </a:tcPr>
                </a:tc>
              </a:tr>
              <a:tr h="702469">
                <a:tc>
                  <a:txBody>
                    <a:bodyPr>
                      <a:noAutofit/>
                    </a:bodyPr>
                    <a:lstStyle/>
                    <a:p>
                      <a:r>
                        <a:rPr sz="1950" b="0">
                          <a:solidFill>
                            <a:srgbClr val="142C3B"/>
                          </a:solidFill>
                          <a:latin typeface="Helvetica Neue"/>
                          <a:ea typeface="Helvetica Neue"/>
                          <a:cs typeface="Helvetica Neue"/>
                        </a:rPr>
                        <a:t>Rust / C++20 candidates</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Concrete replay and comparison with NumPy.</a:t>
                      </a:r>
                    </a:p>
                  </a:txBody>
                  <a:tcPr marL="152400" marR="152400" marT="133350" marB="114300" anchor="ctr">
                    <a:solidFill>
                      <a:srgbClr val="F5F7F6"/>
                    </a:solidFill>
                  </a:tcPr>
                </a:tc>
              </a:tr>
              <a:tr h="702469">
                <a:tc>
                  <a:txBody>
                    <a:bodyPr>
                      <a:noAutofit/>
                    </a:bodyPr>
                    <a:lstStyle/>
                    <a:p>
                      <a:r>
                        <a:rPr sz="1950" b="0">
                          <a:solidFill>
                            <a:srgbClr val="142C3B"/>
                          </a:solidFill>
                          <a:latin typeface="Helvetica Neue"/>
                          <a:ea typeface="Helvetica Neue"/>
                          <a:cs typeface="Helvetica Neue"/>
                        </a:rPr>
                        <a:t>New API / dtype combinations</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Broader replay checks, with no new concolic paths.</a:t>
                      </a:r>
                    </a:p>
                  </a:txBody>
                  <a:tcPr marL="152400" marR="152400" marT="133350" marB="114300" anchor="ctr">
                    <a:solidFill>
                      <a:srgbClr val="F5F7F6"/>
                    </a:solidFill>
                  </a:tcPr>
                </a:tc>
              </a:tr>
            </a:tbl>
          </a:graphicData>
        </a:graphic>
      </p:graphicFrame>
      <p:sp>
        <p:nvSpPr>
          <p:cNvPr id="4" name="">
            <a:extLst xmlns:a="http://schemas.openxmlformats.org/drawingml/2006/main">
              <a:ext uri="{FF2B5EF4-FFF2-40B4-BE49-F238E27FC236}">
                <a16:creationId xmlns:a16="http://schemas.microsoft.com/office/drawing/2014/main" id="{D4F621A6-7058-4DE4-882A-CA192DB7CC81}"/>
              </a:ext>
            </a:extLst>
          </p:cNvPr>
          <p:cNvSpPr>
            <a:spLocks xmlns:a="http://schemas.openxmlformats.org/drawingml/2006/main" noGrp="1"/>
          </p:cNvSpPr>
          <p:nvPr/>
        </p:nvSpPr>
        <p:spPr>
          <a:xfrm xmlns:a="http://schemas.openxmlformats.org/drawingml/2006/main">
            <a:off x="685800" y="53721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B671B"/>
                </a:solidFill>
                <a:latin typeface="Helvetica Neue"/>
                <a:ea typeface="Helvetica Neue"/>
                <a:cs typeface="Helvetica Neue"/>
              </a:defRPr>
            </a:pPr>
            <a:r>
              <a:rPr sz="2400" b="1">
                <a:solidFill>
                  <a:srgbClr val="AB671B"/>
                </a:solidFill>
                <a:latin typeface="Helvetica Neue"/>
                <a:ea typeface="Helvetica Neue"/>
                <a:cs typeface="Helvetica Neue"/>
              </a:rPr>
              <a:t>Saved Rust: 128 inputs. Fresh C++20: 128 accepted inputs.</a:t>
            </a:r>
          </a:p>
        </p:txBody>
      </p:sp>
      <p:sp>
        <p:nvSpPr>
          <p:cNvPr id="5" name="">
            <a:extLst xmlns:a="http://schemas.openxmlformats.org/drawingml/2006/main">
              <a:ext uri="{FF2B5EF4-FFF2-40B4-BE49-F238E27FC236}">
                <a16:creationId xmlns:a16="http://schemas.microsoft.com/office/drawing/2014/main" id="{FC98E0E7-36BA-4CDD-9F70-8ED1DC666D92}"/>
              </a:ext>
            </a:extLst>
          </p:cNvPr>
          <p:cNvSpPr>
            <a:spLocks xmlns:a="http://schemas.openxmlformats.org/drawingml/2006/main" noGrp="1"/>
          </p:cNvSpPr>
          <p:nvPr/>
        </p:nvSpPr>
        <p:spPr>
          <a:xfrm xmlns:a="http://schemas.openxmlformats.org/drawingml/2006/main">
            <a:off x="685800" y="58197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526673"/>
                </a:solidFill>
                <a:latin typeface="Helvetica Neue"/>
                <a:ea typeface="Helvetica Neue"/>
                <a:cs typeface="Helvetica Neue"/>
              </a:defRPr>
            </a:pPr>
            <a:r>
              <a:rPr sz="1950" b="0">
                <a:solidFill>
                  <a:srgbClr val="526673"/>
                </a:solidFill>
                <a:latin typeface="Helvetica Neue"/>
                <a:ea typeface="Helvetica Neue"/>
                <a:cs typeface="Helvetica Neue"/>
              </a:rPr>
              <a:t>Both use decoder instrumentation. Internal-library branch coverage remains pending.</a:t>
            </a:r>
          </a:p>
        </p:txBody>
      </p:sp>
    </p:spTree>
    <p:extLst>
      <p:ext uri="{BB962C8B-B14F-4D97-AF65-F5344CB8AC3E}">
        <p14:creationId xmlns:p14="http://schemas.microsoft.com/office/powerpoint/2010/main" val="586082201"/>
      </p:ext>
    </p:extLst>
  </p:cSld>
</p:sld>
</file>

<file path=ppt/slides/slide10.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7E9E13-8514-47EF-929A-18BC5302436F}"/>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The contract determines what “same” means</a:t>
            </a:r>
          </a:p>
        </p:txBody>
      </p:sp>
      <p:sp>
        <p:nvSpPr>
          <p:cNvPr id="2" name="">
            <a:extLst xmlns:a="http://schemas.openxmlformats.org/drawingml/2006/main">
              <a:ext uri="{FF2B5EF4-FFF2-40B4-BE49-F238E27FC236}">
                <a16:creationId xmlns:a16="http://schemas.microsoft.com/office/drawing/2014/main" id="{401A836B-683E-4CBC-BE9A-C73D4273A506}"/>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10</a:t>
            </a:r>
          </a:p>
        </p:txBody>
      </p:sp>
      <p:graphicFrame>
        <p:nvGraphicFramePr>
          <p:cNvPr id="9" name=""/>
          <p:cNvGraphicFramePr/>
          <p:nvPr/>
        </p:nvGraphicFramePr>
        <p:xfrm>
          <a:off xmlns:a="http://schemas.openxmlformats.org/drawingml/2006/main" x="685800" y="1733550"/>
          <a:ext xmlns:a="http://schemas.openxmlformats.org/drawingml/2006/main" cx="10820400" cy="3429000"/>
        </p:xfrm>
        <a:graphic xmlns:a="http://schemas.openxmlformats.org/drawingml/2006/main">
          <a:graphicData uri="http://schemas.openxmlformats.org/drawingml/2006/table">
            <a:tbl>
              <a:tblPr/>
              <a:tblGrid>
                <a:gridCol w="3686175"/>
                <a:gridCol w="7134225"/>
              </a:tblGrid>
              <a:tr h="552450">
                <a:tc>
                  <a:txBody>
                    <a:bodyPr>
                      <a:noAutofit/>
                    </a:bodyPr>
                    <a:lstStyle/>
                    <a:p>
                      <a:r>
                        <a:rPr sz="1950" b="1">
                          <a:solidFill>
                            <a:srgbClr val="FFFFFF"/>
                          </a:solidFill>
                          <a:latin typeface="Helvetica Neue"/>
                          <a:ea typeface="Helvetica Neue"/>
                          <a:cs typeface="Helvetica Neue"/>
                        </a:rPr>
                        <a:t>Contract layer</a:t>
                      </a:r>
                    </a:p>
                  </a:txBody>
                  <a:tcPr marL="152400" marR="152400" marT="133350" marB="114300" anchor="ctr">
                    <a:solidFill>
                      <a:srgbClr val="142C3B"/>
                    </a:solidFill>
                  </a:tcPr>
                </a:tc>
                <a:tc>
                  <a:txBody>
                    <a:bodyPr>
                      <a:noAutofit/>
                    </a:bodyPr>
                    <a:lstStyle/>
                    <a:p>
                      <a:r>
                        <a:rPr sz="1950" b="1">
                          <a:solidFill>
                            <a:srgbClr val="FFFFFF"/>
                          </a:solidFill>
                          <a:latin typeface="Helvetica Neue"/>
                          <a:ea typeface="Helvetica Neue"/>
                          <a:cs typeface="Helvetica Neue"/>
                        </a:rPr>
                        <a:t>Comparison policy</a:t>
                      </a:r>
                    </a:p>
                  </a:txBody>
                  <a:tcPr marL="152400" marR="152400" marT="133350" marB="114300" anchor="ctr">
                    <a:solidFill>
                      <a:srgbClr val="142C3B"/>
                    </a:solidFill>
                  </a:tcPr>
                </a:tc>
              </a:tr>
              <a:tr h="719138">
                <a:tc>
                  <a:txBody>
                    <a:bodyPr>
                      <a:noAutofit/>
                    </a:bodyPr>
                    <a:lstStyle/>
                    <a:p>
                      <a:r>
                        <a:rPr sz="1950" b="0">
                          <a:solidFill>
                            <a:srgbClr val="142C3B"/>
                          </a:solidFill>
                          <a:latin typeface="Helvetica Neue"/>
                          <a:ea typeface="Helvetica Neue"/>
                          <a:cs typeface="Helvetica Neue"/>
                        </a:rPr>
                        <a:t>Structure and behavior</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Shapes, dtype, strides, mutation, errors and termination.</a:t>
                      </a:r>
                    </a:p>
                  </a:txBody>
                  <a:tcPr marL="152400" marR="152400" marT="133350" marB="114300" anchor="ctr">
                    <a:solidFill>
                      <a:srgbClr val="F5F7F6"/>
                    </a:solidFill>
                  </a:tcPr>
                </a:tc>
              </a:tr>
              <a:tr h="719138">
                <a:tc>
                  <a:txBody>
                    <a:bodyPr>
                      <a:noAutofit/>
                    </a:bodyPr>
                    <a:lstStyle/>
                    <a:p>
                      <a:r>
                        <a:rPr sz="1950" b="0">
                          <a:solidFill>
                            <a:srgbClr val="142C3B"/>
                          </a:solidFill>
                          <a:latin typeface="Helvetica Neue"/>
                          <a:ea typeface="Helvetica Neue"/>
                          <a:cs typeface="Helvetica Neue"/>
                        </a:rPr>
                        <a:t>Finite numerical values</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Absolute / relative tolerance with explicit dtype rules.</a:t>
                      </a:r>
                    </a:p>
                  </a:txBody>
                  <a:tcPr marL="152400" marR="152400" marT="133350" marB="114300" anchor="ctr">
                    <a:solidFill>
                      <a:srgbClr val="F5F7F6"/>
                    </a:solidFill>
                  </a:tcPr>
                </a:tc>
              </a:tr>
              <a:tr h="719138">
                <a:tc>
                  <a:txBody>
                    <a:bodyPr>
                      <a:noAutofit/>
                    </a:bodyPr>
                    <a:lstStyle/>
                    <a:p>
                      <a:r>
                        <a:rPr sz="1950" b="0">
                          <a:solidFill>
                            <a:srgbClr val="142C3B"/>
                          </a:solidFill>
                          <a:latin typeface="Helvetica Neue"/>
                          <a:ea typeface="Helvetica Neue"/>
                          <a:cs typeface="Helvetica Neue"/>
                        </a:rPr>
                        <a:t>Nonunique numerical results</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Reconstruction, residuals and orthogonality.</a:t>
                      </a:r>
                    </a:p>
                  </a:txBody>
                  <a:tcPr marL="152400" marR="152400" marT="133350" marB="114300" anchor="ctr">
                    <a:solidFill>
                      <a:srgbClr val="F5F7F6"/>
                    </a:solidFill>
                  </a:tcPr>
                </a:tc>
              </a:tr>
              <a:tr h="719138">
                <a:tc>
                  <a:txBody>
                    <a:bodyPr>
                      <a:noAutofit/>
                    </a:bodyPr>
                    <a:lstStyle/>
                    <a:p>
                      <a:r>
                        <a:rPr sz="1950" b="0">
                          <a:solidFill>
                            <a:srgbClr val="142C3B"/>
                          </a:solidFill>
                          <a:latin typeface="Helvetica Neue"/>
                          <a:ea typeface="Helvetica Neue"/>
                          <a:cs typeface="Helvetica Neue"/>
                        </a:rPr>
                        <a:t>Machine semantics</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Rounding, FMA, NaNs, signed zero and defined memory access.</a:t>
                      </a:r>
                    </a:p>
                  </a:txBody>
                  <a:tcPr marL="152400" marR="152400" marT="133350" marB="114300" anchor="ctr">
                    <a:solidFill>
                      <a:srgbClr val="F5F7F6"/>
                    </a:solidFill>
                  </a:tcPr>
                </a:tc>
              </a:tr>
            </a:tbl>
          </a:graphicData>
        </a:graphic>
      </p:graphicFrame>
      <p:sp>
        <p:nvSpPr>
          <p:cNvPr id="4" name="">
            <a:extLst xmlns:a="http://schemas.openxmlformats.org/drawingml/2006/main">
              <a:ext uri="{FF2B5EF4-FFF2-40B4-BE49-F238E27FC236}">
                <a16:creationId xmlns:a16="http://schemas.microsoft.com/office/drawing/2014/main" id="{3E443968-BB56-4724-8E1C-F26C14EF1BA0}"/>
              </a:ext>
            </a:extLst>
          </p:cNvPr>
          <p:cNvSpPr>
            <a:spLocks xmlns:a="http://schemas.openxmlformats.org/drawingml/2006/main" noGrp="1"/>
          </p:cNvSpPr>
          <p:nvPr/>
        </p:nvSpPr>
        <p:spPr>
          <a:xfrm xmlns:a="http://schemas.openxmlformats.org/drawingml/2006/main">
            <a:off x="685800" y="55435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Compatibility and mathematical correctness are separate claims.</a:t>
            </a:r>
          </a:p>
        </p:txBody>
      </p:sp>
    </p:spTree>
    <p:extLst>
      <p:ext uri="{BB962C8B-B14F-4D97-AF65-F5344CB8AC3E}">
        <p14:creationId xmlns:p14="http://schemas.microsoft.com/office/powerpoint/2010/main" val="1868439056"/>
      </p:ext>
    </p:extLst>
  </p:cSld>
</p:sld>
</file>

<file path=ppt/slides/slide11.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476F7EF-B8AD-4277-8DF9-D453B2E47557}"/>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The main gaps</a:t>
            </a:r>
          </a:p>
        </p:txBody>
      </p:sp>
      <p:sp>
        <p:nvSpPr>
          <p:cNvPr id="2" name="">
            <a:extLst xmlns:a="http://schemas.openxmlformats.org/drawingml/2006/main">
              <a:ext uri="{FF2B5EF4-FFF2-40B4-BE49-F238E27FC236}">
                <a16:creationId xmlns:a16="http://schemas.microsoft.com/office/drawing/2014/main" id="{1675F4E4-7403-402D-8D1B-65CAD52FA72F}"/>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11</a:t>
            </a:r>
          </a:p>
        </p:txBody>
      </p:sp>
      <p:graphicFrame>
        <p:nvGraphicFramePr>
          <p:cNvPr id="8" name=""/>
          <p:cNvGraphicFramePr/>
          <p:nvPr/>
        </p:nvGraphicFramePr>
        <p:xfrm>
          <a:off xmlns:a="http://schemas.openxmlformats.org/drawingml/2006/main" x="685800" y="1666875"/>
          <a:ext xmlns:a="http://schemas.openxmlformats.org/drawingml/2006/main" cx="10820400" cy="4238625"/>
        </p:xfrm>
        <a:graphic xmlns:a="http://schemas.openxmlformats.org/drawingml/2006/main">
          <a:graphicData uri="http://schemas.openxmlformats.org/drawingml/2006/table">
            <a:tbl>
              <a:tblPr/>
              <a:tblGrid>
                <a:gridCol w="3429000"/>
                <a:gridCol w="7391400"/>
              </a:tblGrid>
              <a:tr h="552450">
                <a:tc>
                  <a:txBody>
                    <a:bodyPr>
                      <a:noAutofit/>
                    </a:bodyPr>
                    <a:lstStyle/>
                    <a:p>
                      <a:r>
                        <a:rPr sz="1875" b="1">
                          <a:solidFill>
                            <a:srgbClr val="FFFFFF"/>
                          </a:solidFill>
                          <a:latin typeface="Helvetica Neue"/>
                          <a:ea typeface="Helvetica Neue"/>
                          <a:cs typeface="Helvetica Neue"/>
                        </a:rPr>
                        <a:t>Gap</a:t>
                      </a:r>
                    </a:p>
                  </a:txBody>
                  <a:tcPr marL="152400" marR="152400" marT="133350" marB="114300" anchor="ctr">
                    <a:solidFill>
                      <a:srgbClr val="142C3B"/>
                    </a:solidFill>
                  </a:tcPr>
                </a:tc>
                <a:tc>
                  <a:txBody>
                    <a:bodyPr>
                      <a:noAutofit/>
                    </a:bodyPr>
                    <a:lstStyle/>
                    <a:p>
                      <a:r>
                        <a:rPr sz="1875" b="1">
                          <a:solidFill>
                            <a:srgbClr val="FFFFFF"/>
                          </a:solidFill>
                          <a:latin typeface="Helvetica Neue"/>
                          <a:ea typeface="Helvetica Neue"/>
                          <a:cs typeface="Helvetica Neue"/>
                        </a:rPr>
                        <a:t>Why it limits the claim</a:t>
                      </a:r>
                    </a:p>
                  </a:txBody>
                  <a:tcPr marL="152400" marR="152400" marT="133350" marB="114300" anchor="ctr">
                    <a:solidFill>
                      <a:srgbClr val="142C3B"/>
                    </a:solidFill>
                  </a:tcPr>
                </a:tc>
              </a:tr>
              <a:tr h="737235">
                <a:tc>
                  <a:txBody>
                    <a:bodyPr>
                      <a:noAutofit/>
                    </a:bodyPr>
                    <a:lstStyle/>
                    <a:p>
                      <a:r>
                        <a:rPr sz="1875" b="0">
                          <a:solidFill>
                            <a:srgbClr val="142C3B"/>
                          </a:solidFill>
                          <a:latin typeface="Helvetica Neue"/>
                          <a:ea typeface="Helvetica Neue"/>
                          <a:cs typeface="Helvetica Neue"/>
                        </a:rPr>
                        <a:t>SymSan reach and diversity</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Campaigns omit internal paths and reuse one numeric payload.</a:t>
                      </a:r>
                    </a:p>
                  </a:txBody>
                  <a:tcPr marL="152400" marR="152400" marT="133350" marB="114300" anchor="ctr">
                    <a:solidFill>
                      <a:srgbClr val="F5F7F6"/>
                    </a:solidFill>
                  </a:tcPr>
                </a:tc>
              </a:tr>
              <a:tr h="737235">
                <a:tc>
                  <a:txBody>
                    <a:bodyPr>
                      <a:noAutofit/>
                    </a:bodyPr>
                    <a:lstStyle/>
                    <a:p>
                      <a:r>
                        <a:rPr sz="1875" b="0">
                          <a:solidFill>
                            <a:srgbClr val="142C3B"/>
                          </a:solidFill>
                          <a:latin typeface="Helvetica Neue"/>
                          <a:ea typeface="Helvetica Neue"/>
                          <a:cs typeface="Helvetica Neue"/>
                        </a:rPr>
                        <a:t>Compatibility contracts</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Rust: 2,062 and C++: 2,056 replay disagreements need review.</a:t>
                      </a:r>
                    </a:p>
                  </a:txBody>
                  <a:tcPr marL="152400" marR="152400" marT="133350" marB="114300" anchor="ctr">
                    <a:solidFill>
                      <a:srgbClr val="F5F7F6"/>
                    </a:solidFill>
                  </a:tcPr>
                </a:tc>
              </a:tr>
              <a:tr h="737235">
                <a:tc>
                  <a:txBody>
                    <a:bodyPr>
                      <a:noAutofit/>
                    </a:bodyPr>
                    <a:lstStyle/>
                    <a:p>
                      <a:r>
                        <a:rPr sz="1875" b="0">
                          <a:solidFill>
                            <a:srgbClr val="142C3B"/>
                          </a:solidFill>
                          <a:latin typeface="Helvetica Neue"/>
                          <a:ea typeface="Helvetica Neue"/>
                          <a:cs typeface="Helvetica Neue"/>
                        </a:rPr>
                        <a:t>Validation breadth</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General shapes/dtypes, upstream BLAS and full adapter proofs remain open.</a:t>
                      </a:r>
                    </a:p>
                  </a:txBody>
                  <a:tcPr marL="152400" marR="152400" marT="133350" marB="114300" anchor="ctr">
                    <a:solidFill>
                      <a:srgbClr val="F5F7F6"/>
                    </a:solidFill>
                  </a:tcPr>
                </a:tc>
              </a:tr>
              <a:tr h="737235">
                <a:tc>
                  <a:txBody>
                    <a:bodyPr>
                      <a:noAutofit/>
                    </a:bodyPr>
                    <a:lstStyle/>
                    <a:p>
                      <a:r>
                        <a:rPr sz="1875" b="0">
                          <a:solidFill>
                            <a:srgbClr val="142C3B"/>
                          </a:solidFill>
                          <a:latin typeface="Helvetica Neue"/>
                          <a:ea typeface="Helvetica Neue"/>
                          <a:cs typeface="Helvetica Neue"/>
                        </a:rPr>
                        <a:t>Calling contracts and automation</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Exact C++ overload/ABI compatibility and automatic library translation remain open.</a:t>
                      </a:r>
                    </a:p>
                  </a:txBody>
                  <a:tcPr marL="152400" marR="152400" marT="133350" marB="114300" anchor="ctr">
                    <a:solidFill>
                      <a:srgbClr val="F5F7F6"/>
                    </a:solidFill>
                  </a:tcPr>
                </a:tc>
              </a:tr>
              <a:tr h="737235">
                <a:tc>
                  <a:txBody>
                    <a:bodyPr>
                      <a:noAutofit/>
                    </a:bodyPr>
                    <a:lstStyle/>
                    <a:p>
                      <a:r>
                        <a:rPr sz="1875" b="0">
                          <a:solidFill>
                            <a:srgbClr val="142C3B"/>
                          </a:solidFill>
                          <a:latin typeface="Helvetica Neue"/>
                          <a:ea typeface="Helvetica Neue"/>
                          <a:cs typeface="Helvetica Neue"/>
                        </a:rPr>
                        <a:t>Adoption and performance</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Psi4 compatibility and performance equivalence remain unestablished.</a:t>
                      </a:r>
                    </a:p>
                  </a:txBody>
                  <a:tcPr marL="152400" marR="152400" marT="133350" marB="114300" anchor="ctr">
                    <a:solidFill>
                      <a:srgbClr val="F5F7F6"/>
                    </a:solidFill>
                  </a:tcPr>
                </a:tc>
              </a:tr>
            </a:tbl>
          </a:graphicData>
        </a:graphic>
      </p:graphicFrame>
    </p:spTree>
    <p:extLst>
      <p:ext uri="{BB962C8B-B14F-4D97-AF65-F5344CB8AC3E}">
        <p14:creationId xmlns:p14="http://schemas.microsoft.com/office/powerpoint/2010/main" val="808893690"/>
      </p:ext>
    </p:extLst>
  </p:cSld>
</p:sld>
</file>

<file path=ppt/slides/slide12.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1887036-6BE9-4C32-B4BC-A73107596858}"/>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A bounded verification model for translation</a:t>
            </a:r>
          </a:p>
        </p:txBody>
      </p:sp>
      <p:sp>
        <p:nvSpPr>
          <p:cNvPr id="2" name="">
            <a:extLst xmlns:a="http://schemas.openxmlformats.org/drawingml/2006/main">
              <a:ext uri="{FF2B5EF4-FFF2-40B4-BE49-F238E27FC236}">
                <a16:creationId xmlns:a16="http://schemas.microsoft.com/office/drawing/2014/main" id="{89773F53-69A2-40C4-B90A-580623C419A6}"/>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7AB6587E-C73A-42E5-A840-BC7BA701000D}"/>
              </a:ext>
            </a:extLst>
          </p:cNvPr>
          <p:cNvSpPr>
            <a:spLocks xmlns:a="http://schemas.openxmlformats.org/drawingml/2006/main" noGrp="1"/>
          </p:cNvSpPr>
          <p:nvPr/>
        </p:nvSpPr>
        <p:spPr>
          <a:xfrm xmlns:a="http://schemas.openxmlformats.org/drawingml/2006/main">
            <a:off x="685800" y="623887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Six bounded Tensor operations proved. Public adapters have native checks.</a:t>
            </a:r>
          </a:p>
        </p:txBody>
      </p:sp>
      <p:sp>
        <p:nvSpPr>
          <p:cNvPr id="4" name="">
            <a:extLst xmlns:a="http://schemas.openxmlformats.org/drawingml/2006/main">
              <a:ext uri="{FF2B5EF4-FFF2-40B4-BE49-F238E27FC236}">
                <a16:creationId xmlns:a16="http://schemas.microsoft.com/office/drawing/2014/main" id="{2B416D69-6B3B-426F-A146-8144208FD7EB}"/>
              </a:ext>
            </a:extLst>
          </p:cNvPr>
          <p:cNvSpPr>
            <a:spLocks xmlns:a="http://schemas.openxmlformats.org/drawingml/2006/main" noGrp="1"/>
          </p:cNvSpPr>
          <p:nvPr/>
        </p:nvSpPr>
        <p:spPr>
          <a:xfrm xmlns:a="http://schemas.openxmlformats.org/drawingml/2006/main">
            <a:off x="685800" y="1571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007F78"/>
                </a:solidFill>
                <a:latin typeface="Helvetica Neue"/>
                <a:ea typeface="Helvetica Neue"/>
                <a:cs typeface="Helvetica Neue"/>
              </a:defRPr>
            </a:pPr>
            <a:r>
              <a:rPr sz="2550" b="1">
                <a:solidFill>
                  <a:srgbClr val="007F78"/>
                </a:solidFill>
                <a:latin typeface="Helvetica Neue"/>
                <a:ea typeface="Helvetica Neue"/>
                <a:cs typeface="Helvetica Neue"/>
              </a:rPr>
              <a:t>Source and candidate satisfy the same exact specification.</a:t>
            </a:r>
          </a:p>
        </p:txBody>
      </p:sp>
      <p:sp>
        <p:nvSpPr>
          <p:cNvPr id="5" name="">
            <a:extLst xmlns:a="http://schemas.openxmlformats.org/drawingml/2006/main">
              <a:ext uri="{FF2B5EF4-FFF2-40B4-BE49-F238E27FC236}">
                <a16:creationId xmlns:a16="http://schemas.microsoft.com/office/drawing/2014/main" id="{4E2D319E-F360-4E59-8C68-F7C8A9FB403E}"/>
              </a:ext>
            </a:extLst>
          </p:cNvPr>
          <p:cNvSpPr>
            <a:spLocks xmlns:a="http://schemas.openxmlformats.org/drawingml/2006/main" noGrp="1"/>
          </p:cNvSpPr>
          <p:nvPr/>
        </p:nvSpPr>
        <p:spPr>
          <a:xfrm xmlns:a="http://schemas.openxmlformats.org/drawingml/2006/main">
            <a:off x="685800" y="2647950"/>
            <a:ext cx="10858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142C3B"/>
                </a:solidFill>
                <a:latin typeface="Helvetica Neue"/>
                <a:ea typeface="Helvetica Neue"/>
                <a:cs typeface="Helvetica Neue"/>
              </a:defRPr>
            </a:pPr>
            <a:r>
              <a:rPr sz="2400" b="1">
                <a:solidFill>
                  <a:srgbClr val="142C3B"/>
                </a:solidFill>
                <a:latin typeface="Helvetica Neue"/>
                <a:ea typeface="Helvetica Neue"/>
                <a:cs typeface="Helvetica Neue"/>
              </a:rPr>
              <a:t>Bad(x) = P(x) ∧ DefinedSource(x) ∧</a:t>
            </a:r>
          </a:p>
          <a:p xmlns:a="http://schemas.openxmlformats.org/drawingml/2006/main">
            <a:pPr>
              <a:buNone/>
              <a:defRPr sz="2400" b="1">
                <a:solidFill>
                  <a:srgbClr val="142C3B"/>
                </a:solidFill>
                <a:latin typeface="Helvetica Neue"/>
                <a:ea typeface="Helvetica Neue"/>
                <a:cs typeface="Helvetica Neue"/>
              </a:defRPr>
            </a:pPr>
            <a:r>
              <a:rPr sz="2400" b="1">
                <a:solidFill>
                  <a:srgbClr val="142C3B"/>
                </a:solidFill>
                <a:latin typeface="Helvetica Neue"/>
                <a:ea typeface="Helvetica Neue"/>
                <a:cs typeface="Helvetica Neue"/>
              </a:rPr>
              <a:t>             [UnsafeCandidate(x) ∨ ¬R(Source(x), Candidate(x))]</a:t>
            </a:r>
          </a:p>
        </p:txBody>
      </p:sp>
      <p:sp>
        <p:nvSpPr>
          <p:cNvPr id="6" name="">
            <a:extLst xmlns:a="http://schemas.openxmlformats.org/drawingml/2006/main">
              <a:ext uri="{FF2B5EF4-FFF2-40B4-BE49-F238E27FC236}">
                <a16:creationId xmlns:a16="http://schemas.microsoft.com/office/drawing/2014/main" id="{B2D5ADBD-3C5E-41BE-B09B-972C91979B98}"/>
              </a:ext>
            </a:extLst>
          </p:cNvPr>
          <p:cNvSpPr>
            <a:spLocks xmlns:a="http://schemas.openxmlformats.org/drawingml/2006/main" noGrp="1"/>
          </p:cNvSpPr>
          <p:nvPr/>
        </p:nvSpPr>
        <p:spPr>
          <a:xfrm xmlns:a="http://schemas.openxmlformats.org/drawingml/2006/main">
            <a:off x="685800" y="3810000"/>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526673"/>
                </a:solidFill>
                <a:latin typeface="Helvetica Neue"/>
                <a:ea typeface="Helvetica Neue"/>
                <a:cs typeface="Helvetica Neue"/>
              </a:defRPr>
            </a:pPr>
            <a:r>
              <a:rPr sz="1725" b="0">
                <a:solidFill>
                  <a:srgbClr val="526673"/>
                </a:solidFill>
                <a:latin typeface="Helvetica Neue"/>
                <a:ea typeface="Helvetica Neue"/>
                <a:cs typeface="Helvetica Neue"/>
              </a:rPr>
              <a:t>P = allowed inputs     R = the declared relation between observable results</a:t>
            </a:r>
          </a:p>
        </p:txBody>
      </p:sp>
      <p:sp>
        <p:nvSpPr>
          <p:cNvPr id="7" name="">
            <a:extLst xmlns:a="http://schemas.openxmlformats.org/drawingml/2006/main">
              <a:ext uri="{FF2B5EF4-FFF2-40B4-BE49-F238E27FC236}">
                <a16:creationId xmlns:a16="http://schemas.microsoft.com/office/drawing/2014/main" id="{2BFE4493-B06A-450F-86A0-616EDFAAF35E}"/>
              </a:ext>
            </a:extLst>
          </p:cNvPr>
          <p:cNvSpPr>
            <a:spLocks xmlns:a="http://schemas.openxmlformats.org/drawingml/2006/main" noGrp="1"/>
          </p:cNvSpPr>
          <p:nvPr/>
        </p:nvSpPr>
        <p:spPr>
          <a:xfrm xmlns:a="http://schemas.openxmlformats.org/drawingml/2006/main">
            <a:off x="685800" y="42100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SAT</a:t>
            </a:r>
          </a:p>
        </p:txBody>
      </p:sp>
      <p:sp>
        <p:nvSpPr>
          <p:cNvPr id="8" name="">
            <a:extLst xmlns:a="http://schemas.openxmlformats.org/drawingml/2006/main">
              <a:ext uri="{FF2B5EF4-FFF2-40B4-BE49-F238E27FC236}">
                <a16:creationId xmlns:a16="http://schemas.microsoft.com/office/drawing/2014/main" id="{6FE6EEED-72FD-4A9A-B575-A6E7B4EE83F2}"/>
              </a:ext>
            </a:extLst>
          </p:cNvPr>
          <p:cNvSpPr>
            <a:spLocks xmlns:a="http://schemas.openxmlformats.org/drawingml/2006/main" noGrp="1"/>
          </p:cNvSpPr>
          <p:nvPr/>
        </p:nvSpPr>
        <p:spPr>
          <a:xfrm xmlns:a="http://schemas.openxmlformats.org/drawingml/2006/main">
            <a:off x="3905250" y="421005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Replay a concrete counterexample.</a:t>
            </a:r>
          </a:p>
        </p:txBody>
      </p:sp>
      <p:sp>
        <p:nvSpPr>
          <p:cNvPr id="9" name="">
            <a:extLst xmlns:a="http://schemas.openxmlformats.org/drawingml/2006/main">
              <a:ext uri="{FF2B5EF4-FFF2-40B4-BE49-F238E27FC236}">
                <a16:creationId xmlns:a16="http://schemas.microsoft.com/office/drawing/2014/main" id="{5DE766BD-3576-4637-8079-E95F662F55FD}"/>
              </a:ext>
            </a:extLst>
          </p:cNvPr>
          <p:cNvSpPr>
            <a:spLocks xmlns:a="http://schemas.openxmlformats.org/drawingml/2006/main" noGrp="1"/>
          </p:cNvSpPr>
          <p:nvPr/>
        </p:nvSpPr>
        <p:spPr>
          <a:xfrm xmlns:a="http://schemas.openxmlformats.org/drawingml/2006/main">
            <a:off x="685800" y="4810125"/>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UNSAT</a:t>
            </a:r>
          </a:p>
        </p:txBody>
      </p:sp>
      <p:sp>
        <p:nvSpPr>
          <p:cNvPr id="10" name="">
            <a:extLst xmlns:a="http://schemas.openxmlformats.org/drawingml/2006/main">
              <a:ext uri="{FF2B5EF4-FFF2-40B4-BE49-F238E27FC236}">
                <a16:creationId xmlns:a16="http://schemas.microsoft.com/office/drawing/2014/main" id="{BF6B3B6C-6809-4D2C-BC2B-8009FFABC41A}"/>
              </a:ext>
            </a:extLst>
          </p:cNvPr>
          <p:cNvSpPr>
            <a:spLocks xmlns:a="http://schemas.openxmlformats.org/drawingml/2006/main" noGrp="1"/>
          </p:cNvSpPr>
          <p:nvPr/>
        </p:nvSpPr>
        <p:spPr>
          <a:xfrm xmlns:a="http://schemas.openxmlformats.org/drawingml/2006/main">
            <a:off x="3905250" y="4810125"/>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No counterexample within the complete bounded model.</a:t>
            </a:r>
          </a:p>
        </p:txBody>
      </p:sp>
      <p:sp>
        <p:nvSpPr>
          <p:cNvPr id="11" name="">
            <a:extLst xmlns:a="http://schemas.openxmlformats.org/drawingml/2006/main">
              <a:ext uri="{FF2B5EF4-FFF2-40B4-BE49-F238E27FC236}">
                <a16:creationId xmlns:a16="http://schemas.microsoft.com/office/drawing/2014/main" id="{8A5A15F6-5980-4D3E-9D82-2B809621823F}"/>
              </a:ext>
            </a:extLst>
          </p:cNvPr>
          <p:cNvSpPr>
            <a:spLocks xmlns:a="http://schemas.openxmlformats.org/drawingml/2006/main" noGrp="1"/>
          </p:cNvSpPr>
          <p:nvPr/>
        </p:nvSpPr>
        <p:spPr>
          <a:xfrm xmlns:a="http://schemas.openxmlformats.org/drawingml/2006/main">
            <a:off x="685800" y="541020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Unknown / timeout</a:t>
            </a:r>
          </a:p>
        </p:txBody>
      </p:sp>
      <p:sp>
        <p:nvSpPr>
          <p:cNvPr id="12" name="">
            <a:extLst xmlns:a="http://schemas.openxmlformats.org/drawingml/2006/main">
              <a:ext uri="{FF2B5EF4-FFF2-40B4-BE49-F238E27FC236}">
                <a16:creationId xmlns:a16="http://schemas.microsoft.com/office/drawing/2014/main" id="{3CBFCD3D-BF31-48F9-AE42-D756E3A4B80B}"/>
              </a:ext>
            </a:extLst>
          </p:cNvPr>
          <p:cNvSpPr>
            <a:spLocks xmlns:a="http://schemas.openxmlformats.org/drawingml/2006/main" noGrp="1"/>
          </p:cNvSpPr>
          <p:nvPr/>
        </p:nvSpPr>
        <p:spPr>
          <a:xfrm xmlns:a="http://schemas.openxmlformats.org/drawingml/2006/main">
            <a:off x="3905250" y="5410200"/>
            <a:ext cx="752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No proof. Retain assumptions and solver outcome.</a:t>
            </a:r>
          </a:p>
        </p:txBody>
      </p:sp>
    </p:spTree>
    <p:extLst>
      <p:ext uri="{BB962C8B-B14F-4D97-AF65-F5344CB8AC3E}">
        <p14:creationId xmlns:p14="http://schemas.microsoft.com/office/powerpoint/2010/main" val="592942584"/>
      </p:ext>
    </p:extLst>
  </p:cSld>
</p:sld>
</file>

<file path=ppt/slides/slide13.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C5D6E74-78C8-4F0A-821B-D96CEE83DCA1}"/>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Rust and C++20 bounded proofs</a:t>
            </a:r>
          </a:p>
        </p:txBody>
      </p:sp>
      <p:sp>
        <p:nvSpPr>
          <p:cNvPr id="2" name="">
            <a:extLst xmlns:a="http://schemas.openxmlformats.org/drawingml/2006/main">
              <a:ext uri="{FF2B5EF4-FFF2-40B4-BE49-F238E27FC236}">
                <a16:creationId xmlns:a16="http://schemas.microsoft.com/office/drawing/2014/main" id="{DC53EC91-0123-47C9-8839-E5D5ECD3511C}"/>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373BB988-35BE-4D4E-8CB6-4D7939F7B93C}"/>
              </a:ext>
            </a:extLst>
          </p:cNvPr>
          <p:cNvSpPr>
            <a:spLocks xmlns:a="http://schemas.openxmlformats.org/drawingml/2006/main" noGrp="1"/>
          </p:cNvSpPr>
          <p:nvPr/>
        </p:nvSpPr>
        <p:spPr>
          <a:xfrm xmlns:a="http://schemas.openxmlformats.org/drawingml/2006/main">
            <a:off x="685800" y="15525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007F78"/>
                </a:solidFill>
                <a:latin typeface="Helvetica Neue"/>
                <a:ea typeface="Helvetica Neue"/>
                <a:cs typeface="Helvetica Neue"/>
              </a:defRPr>
            </a:pPr>
            <a:r>
              <a:rPr sz="2550" b="1">
                <a:solidFill>
                  <a:srgbClr val="007F78"/>
                </a:solidFill>
                <a:latin typeface="Helvetica Neue"/>
                <a:ea typeface="Helvetica Neue"/>
                <a:cs typeface="Helvetica Neue"/>
              </a:rPr>
              <a:t>Copy, add, multiply, transpose, matmul and scale</a:t>
            </a:r>
          </a:p>
        </p:txBody>
      </p:sp>
      <p:sp>
        <p:nvSpPr>
          <p:cNvPr id="4" name="">
            <a:extLst xmlns:a="http://schemas.openxmlformats.org/drawingml/2006/main">
              <a:ext uri="{FF2B5EF4-FFF2-40B4-BE49-F238E27FC236}">
                <a16:creationId xmlns:a16="http://schemas.microsoft.com/office/drawing/2014/main" id="{FF6977B7-9680-4F78-846E-07DB89BCD99D}"/>
              </a:ext>
            </a:extLst>
          </p:cNvPr>
          <p:cNvSpPr>
            <a:spLocks xmlns:a="http://schemas.openxmlformats.org/drawingml/2006/main" noGrp="1"/>
          </p:cNvSpPr>
          <p:nvPr/>
        </p:nvSpPr>
        <p:spPr>
          <a:xfrm xmlns:a="http://schemas.openxmlformats.org/drawingml/2006/main">
            <a:off x="685800" y="2447925"/>
            <a:ext cx="2905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Rust proof</a:t>
            </a:r>
          </a:p>
        </p:txBody>
      </p:sp>
      <p:sp>
        <p:nvSpPr>
          <p:cNvPr id="5" name="">
            <a:extLst xmlns:a="http://schemas.openxmlformats.org/drawingml/2006/main">
              <a:ext uri="{FF2B5EF4-FFF2-40B4-BE49-F238E27FC236}">
                <a16:creationId xmlns:a16="http://schemas.microsoft.com/office/drawing/2014/main" id="{8B9582F0-5FC2-4EDC-8046-E939EDFC8D77}"/>
              </a:ext>
            </a:extLst>
          </p:cNvPr>
          <p:cNvSpPr>
            <a:spLocks xmlns:a="http://schemas.openxmlformats.org/drawingml/2006/main" noGrp="1"/>
          </p:cNvSpPr>
          <p:nvPr/>
        </p:nvSpPr>
        <p:spPr>
          <a:xfrm xmlns:a="http://schemas.openxmlformats.org/drawingml/2006/main">
            <a:off x="3981450" y="2447925"/>
            <a:ext cx="7505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144 Kani proofs of ordered expressions from production methods.</a:t>
            </a:r>
          </a:p>
        </p:txBody>
      </p:sp>
      <p:sp>
        <p:nvSpPr>
          <p:cNvPr id="6" name="">
            <a:extLst xmlns:a="http://schemas.openxmlformats.org/drawingml/2006/main">
              <a:ext uri="{FF2B5EF4-FFF2-40B4-BE49-F238E27FC236}">
                <a16:creationId xmlns:a16="http://schemas.microsoft.com/office/drawing/2014/main" id="{D6DF3524-B4E4-4124-B9C1-1B39AE4C6C43}"/>
              </a:ext>
            </a:extLst>
          </p:cNvPr>
          <p:cNvSpPr>
            <a:spLocks xmlns:a="http://schemas.openxmlformats.org/drawingml/2006/main" noGrp="1"/>
          </p:cNvSpPr>
          <p:nvPr/>
        </p:nvSpPr>
        <p:spPr>
          <a:xfrm xmlns:a="http://schemas.openxmlformats.org/drawingml/2006/main">
            <a:off x="685800" y="3286125"/>
            <a:ext cx="2905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C++20 proof</a:t>
            </a:r>
          </a:p>
        </p:txBody>
      </p:sp>
      <p:sp>
        <p:nvSpPr>
          <p:cNvPr id="7" name="">
            <a:extLst xmlns:a="http://schemas.openxmlformats.org/drawingml/2006/main">
              <a:ext uri="{FF2B5EF4-FFF2-40B4-BE49-F238E27FC236}">
                <a16:creationId xmlns:a16="http://schemas.microsoft.com/office/drawing/2014/main" id="{220258C8-972C-43F7-847B-7807DD8E9699}"/>
              </a:ext>
            </a:extLst>
          </p:cNvPr>
          <p:cNvSpPr>
            <a:spLocks xmlns:a="http://schemas.openxmlformats.org/drawingml/2006/main" noGrp="1"/>
          </p:cNvSpPr>
          <p:nvPr/>
        </p:nvSpPr>
        <p:spPr>
          <a:xfrm xmlns:a="http://schemas.openxmlformats.org/drawingml/2006/main">
            <a:off x="3981450" y="3286125"/>
            <a:ext cx="7505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144 CBMC expression proofs with compiler identity checks.</a:t>
            </a:r>
          </a:p>
        </p:txBody>
      </p:sp>
      <p:sp>
        <p:nvSpPr>
          <p:cNvPr id="8" name="">
            <a:extLst xmlns:a="http://schemas.openxmlformats.org/drawingml/2006/main">
              <a:ext uri="{FF2B5EF4-FFF2-40B4-BE49-F238E27FC236}">
                <a16:creationId xmlns:a16="http://schemas.microsoft.com/office/drawing/2014/main" id="{F0F9D96E-6948-4BCD-B482-D09112B5BD52}"/>
              </a:ext>
            </a:extLst>
          </p:cNvPr>
          <p:cNvSpPr>
            <a:spLocks xmlns:a="http://schemas.openxmlformats.org/drawingml/2006/main" noGrp="1"/>
          </p:cNvSpPr>
          <p:nvPr/>
        </p:nvSpPr>
        <p:spPr>
          <a:xfrm xmlns:a="http://schemas.openxmlformats.org/drawingml/2006/main">
            <a:off x="685800" y="4124325"/>
            <a:ext cx="2905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Public API connection</a:t>
            </a:r>
          </a:p>
        </p:txBody>
      </p:sp>
      <p:sp>
        <p:nvSpPr>
          <p:cNvPr id="9" name="">
            <a:extLst xmlns:a="http://schemas.openxmlformats.org/drawingml/2006/main">
              <a:ext uri="{FF2B5EF4-FFF2-40B4-BE49-F238E27FC236}">
                <a16:creationId xmlns:a16="http://schemas.microsoft.com/office/drawing/2014/main" id="{FAD58F30-FC8F-4E59-AEC8-717EF9A24717}"/>
              </a:ext>
            </a:extLst>
          </p:cNvPr>
          <p:cNvSpPr>
            <a:spLocks xmlns:a="http://schemas.openxmlformats.org/drawingml/2006/main" noGrp="1"/>
          </p:cNvSpPr>
          <p:nvPr/>
        </p:nvSpPr>
        <p:spPr>
          <a:xfrm xmlns:a="http://schemas.openxmlformats.org/drawingml/2006/main">
            <a:off x="3981450" y="4124325"/>
            <a:ext cx="7505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Eligible calls use proved methods. 864 Python and 864 JSON/FFI checks per language.</a:t>
            </a:r>
          </a:p>
        </p:txBody>
      </p:sp>
      <p:sp>
        <p:nvSpPr>
          <p:cNvPr id="10" name="">
            <a:extLst xmlns:a="http://schemas.openxmlformats.org/drawingml/2006/main">
              <a:ext uri="{FF2B5EF4-FFF2-40B4-BE49-F238E27FC236}">
                <a16:creationId xmlns:a16="http://schemas.microsoft.com/office/drawing/2014/main" id="{6CFFE803-3525-4875-A039-C3DF5A2C4201}"/>
              </a:ext>
            </a:extLst>
          </p:cNvPr>
          <p:cNvSpPr>
            <a:spLocks xmlns:a="http://schemas.openxmlformats.org/drawingml/2006/main" noGrp="1"/>
          </p:cNvSpPr>
          <p:nvPr/>
        </p:nvSpPr>
        <p:spPr>
          <a:xfrm xmlns:a="http://schemas.openxmlformats.org/drawingml/2006/main">
            <a:off x="685800" y="4962525"/>
            <a:ext cx="2905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07F78"/>
                </a:solidFill>
                <a:latin typeface="Helvetica Neue"/>
                <a:ea typeface="Helvetica Neue"/>
                <a:cs typeface="Helvetica Neue"/>
              </a:defRPr>
            </a:pPr>
            <a:r>
              <a:rPr sz="2025" b="1">
                <a:solidFill>
                  <a:srgbClr val="007F78"/>
                </a:solidFill>
                <a:latin typeface="Helvetica Neue"/>
                <a:ea typeface="Helvetica Neue"/>
                <a:cs typeface="Helvetica Neue"/>
              </a:rPr>
              <a:t>Fault controls</a:t>
            </a:r>
          </a:p>
        </p:txBody>
      </p:sp>
      <p:sp>
        <p:nvSpPr>
          <p:cNvPr id="11" name="">
            <a:extLst xmlns:a="http://schemas.openxmlformats.org/drawingml/2006/main">
              <a:ext uri="{FF2B5EF4-FFF2-40B4-BE49-F238E27FC236}">
                <a16:creationId xmlns:a16="http://schemas.microsoft.com/office/drawing/2014/main" id="{C0EE2570-71EA-4FBC-A83A-A4BF150CAC99}"/>
              </a:ext>
            </a:extLst>
          </p:cNvPr>
          <p:cNvSpPr>
            <a:spLocks xmlns:a="http://schemas.openxmlformats.org/drawingml/2006/main" noGrp="1"/>
          </p:cNvSpPr>
          <p:nvPr/>
        </p:nvSpPr>
        <p:spPr>
          <a:xfrm xmlns:a="http://schemas.openxmlformats.org/drawingml/2006/main">
            <a:off x="3981450" y="4962525"/>
            <a:ext cx="7505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42C3B"/>
                </a:solidFill>
                <a:latin typeface="Helvetica Neue"/>
                <a:ea typeface="Helvetica Neue"/>
                <a:cs typeface="Helvetica Neue"/>
              </a:defRPr>
            </a:pPr>
            <a:r>
              <a:rPr sz="2025" b="0">
                <a:solidFill>
                  <a:srgbClr val="142C3B"/>
                </a:solidFill>
                <a:latin typeface="Helvetica Neue"/>
                <a:ea typeface="Helvetica Neue"/>
                <a:cs typeface="Helvetica Neue"/>
              </a:rPr>
              <a:t>Six source faults per language detected and replayed as native failures.</a:t>
            </a:r>
          </a:p>
        </p:txBody>
      </p:sp>
      <p:sp>
        <p:nvSpPr>
          <p:cNvPr id="12" name="">
            <a:extLst xmlns:a="http://schemas.openxmlformats.org/drawingml/2006/main">
              <a:ext uri="{FF2B5EF4-FFF2-40B4-BE49-F238E27FC236}">
                <a16:creationId xmlns:a16="http://schemas.microsoft.com/office/drawing/2014/main" id="{E75E971F-358D-43AD-B203-0A33938F8998}"/>
              </a:ext>
            </a:extLst>
          </p:cNvPr>
          <p:cNvSpPr>
            <a:spLocks xmlns:a="http://schemas.openxmlformats.org/drawingml/2006/main" noGrp="1"/>
          </p:cNvSpPr>
          <p:nvPr/>
        </p:nvSpPr>
        <p:spPr>
          <a:xfrm xmlns:a="http://schemas.openxmlformats.org/drawingml/2006/main">
            <a:off x="685800" y="59245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526673"/>
                </a:solidFill>
                <a:latin typeface="Helvetica Neue"/>
                <a:ea typeface="Helvetica Neue"/>
                <a:cs typeface="Helvetica Neue"/>
              </a:defRPr>
            </a:pPr>
            <a:r>
              <a:rPr sz="1950" b="0">
                <a:solidFill>
                  <a:srgbClr val="526673"/>
                </a:solidFill>
                <a:latin typeface="Helvetica Neue"/>
                <a:ea typeface="Helvetica Neue"/>
                <a:cs typeface="Helvetica Neue"/>
              </a:rPr>
              <a:t>Float64, dimensions 1–4, signed bytes / 8. Adapters and upstream BLAS excluded.</a:t>
            </a:r>
          </a:p>
        </p:txBody>
      </p:sp>
    </p:spTree>
    <p:extLst>
      <p:ext uri="{BB962C8B-B14F-4D97-AF65-F5344CB8AC3E}">
        <p14:creationId xmlns:p14="http://schemas.microsoft.com/office/powerpoint/2010/main" val="2069817295"/>
      </p:ext>
    </p:extLst>
  </p:cSld>
</p:sld>
</file>

<file path=ppt/slides/slide14.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90C934-10B9-4F8F-A0A4-ED060373ADD3}"/>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Next steps and the evidence each should produce</a:t>
            </a:r>
          </a:p>
        </p:txBody>
      </p:sp>
      <p:sp>
        <p:nvSpPr>
          <p:cNvPr id="2" name="">
            <a:extLst xmlns:a="http://schemas.openxmlformats.org/drawingml/2006/main">
              <a:ext uri="{FF2B5EF4-FFF2-40B4-BE49-F238E27FC236}">
                <a16:creationId xmlns:a16="http://schemas.microsoft.com/office/drawing/2014/main" id="{722F60E7-4AC9-4E59-972C-277E594050EB}"/>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14</a:t>
            </a:r>
          </a:p>
        </p:txBody>
      </p:sp>
      <p:graphicFrame>
        <p:nvGraphicFramePr>
          <p:cNvPr id="9" name=""/>
          <p:cNvGraphicFramePr/>
          <p:nvPr/>
        </p:nvGraphicFramePr>
        <p:xfrm>
          <a:off xmlns:a="http://schemas.openxmlformats.org/drawingml/2006/main" x="685800" y="1743075"/>
          <a:ext xmlns:a="http://schemas.openxmlformats.org/drawingml/2006/main" cx="10820400" cy="3619500"/>
        </p:xfrm>
        <a:graphic xmlns:a="http://schemas.openxmlformats.org/drawingml/2006/main">
          <a:graphicData uri="http://schemas.openxmlformats.org/drawingml/2006/table">
            <a:tbl>
              <a:tblPr/>
              <a:tblGrid>
                <a:gridCol w="4124325"/>
                <a:gridCol w="6696075"/>
              </a:tblGrid>
              <a:tr h="552450">
                <a:tc>
                  <a:txBody>
                    <a:bodyPr>
                      <a:noAutofit/>
                    </a:bodyPr>
                    <a:lstStyle/>
                    <a:p>
                      <a:r>
                        <a:rPr sz="1950" b="1">
                          <a:solidFill>
                            <a:srgbClr val="FFFFFF"/>
                          </a:solidFill>
                          <a:latin typeface="Helvetica Neue"/>
                          <a:ea typeface="Helvetica Neue"/>
                          <a:cs typeface="Helvetica Neue"/>
                        </a:rPr>
                        <a:t>Work item</a:t>
                      </a:r>
                    </a:p>
                  </a:txBody>
                  <a:tcPr marL="152400" marR="152400" marT="133350" marB="114300" anchor="ctr">
                    <a:solidFill>
                      <a:srgbClr val="142C3B"/>
                    </a:solidFill>
                  </a:tcPr>
                </a:tc>
                <a:tc>
                  <a:txBody>
                    <a:bodyPr>
                      <a:noAutofit/>
                    </a:bodyPr>
                    <a:lstStyle/>
                    <a:p>
                      <a:r>
                        <a:rPr sz="1950" b="1">
                          <a:solidFill>
                            <a:srgbClr val="FFFFFF"/>
                          </a:solidFill>
                          <a:latin typeface="Helvetica Neue"/>
                          <a:ea typeface="Helvetica Neue"/>
                          <a:cs typeface="Helvetica Neue"/>
                        </a:rPr>
                        <a:t>Reviewable result</a:t>
                      </a:r>
                    </a:p>
                  </a:txBody>
                  <a:tcPr marL="152400" marR="152400" marT="133350" marB="114300" anchor="ctr">
                    <a:solidFill>
                      <a:srgbClr val="142C3B"/>
                    </a:solidFill>
                  </a:tcPr>
                </a:tc>
              </a:tr>
              <a:tr h="766763">
                <a:tc>
                  <a:txBody>
                    <a:bodyPr>
                      <a:noAutofit/>
                    </a:bodyPr>
                    <a:lstStyle/>
                    <a:p>
                      <a:r>
                        <a:rPr sz="1950" b="0">
                          <a:solidFill>
                            <a:srgbClr val="142C3B"/>
                          </a:solidFill>
                          <a:latin typeface="Helvetica Neue"/>
                          <a:ea typeface="Helvetica Neue"/>
                          <a:cs typeface="Helvetica Neue"/>
                        </a:rPr>
                        <a:t>1  Shared contracts</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Classify 2,062 Rust and 2,056 C++ replay disagreements.</a:t>
                      </a:r>
                    </a:p>
                  </a:txBody>
                  <a:tcPr marL="152400" marR="152400" marT="133350" marB="114300" anchor="ctr">
                    <a:solidFill>
                      <a:srgbClr val="F5F7F6"/>
                    </a:solidFill>
                  </a:tcPr>
                </a:tc>
              </a:tr>
              <a:tr h="766763">
                <a:tc>
                  <a:txBody>
                    <a:bodyPr>
                      <a:noAutofit/>
                    </a:bodyPr>
                    <a:lstStyle/>
                    <a:p>
                      <a:r>
                        <a:rPr sz="1950" b="0">
                          <a:solidFill>
                            <a:srgbClr val="142C3B"/>
                          </a:solidFill>
                          <a:latin typeface="Helvetica Neue"/>
                          <a:ea typeface="Helvetica Neue"/>
                          <a:cs typeface="Helvetica Neue"/>
                        </a:rPr>
                        <a:t>2  Calling contracts</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Review full Python calls, native C++ overload/ABI and installation contracts.</a:t>
                      </a:r>
                    </a:p>
                  </a:txBody>
                  <a:tcPr marL="152400" marR="152400" marT="133350" marB="114300" anchor="ctr">
                    <a:solidFill>
                      <a:srgbClr val="F5F7F6"/>
                    </a:solidFill>
                  </a:tcPr>
                </a:tc>
              </a:tr>
              <a:tr h="766763">
                <a:tc>
                  <a:txBody>
                    <a:bodyPr>
                      <a:noAutofit/>
                    </a:bodyPr>
                    <a:lstStyle/>
                    <a:p>
                      <a:r>
                        <a:rPr sz="1950" b="0">
                          <a:solidFill>
                            <a:srgbClr val="142C3B"/>
                          </a:solidFill>
                          <a:latin typeface="Helvetica Neue"/>
                          <a:ea typeface="Helvetica Neue"/>
                          <a:cs typeface="Helvetica Neue"/>
                        </a:rPr>
                        <a:t>3  Broader verification</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Prove public adapters, extend shapes/dtypes, then verify upstream BLAS contracts.</a:t>
                      </a:r>
                    </a:p>
                  </a:txBody>
                  <a:tcPr marL="152400" marR="152400" marT="133350" marB="114300" anchor="ctr">
                    <a:solidFill>
                      <a:srgbClr val="F5F7F6"/>
                    </a:solidFill>
                  </a:tcPr>
                </a:tc>
              </a:tr>
              <a:tr h="766763">
                <a:tc>
                  <a:txBody>
                    <a:bodyPr>
                      <a:noAutofit/>
                    </a:bodyPr>
                    <a:lstStyle/>
                    <a:p>
                      <a:r>
                        <a:rPr sz="1950" b="0">
                          <a:solidFill>
                            <a:srgbClr val="142C3B"/>
                          </a:solidFill>
                          <a:latin typeface="Helvetica Neue"/>
                          <a:ea typeface="Helvetica Neue"/>
                          <a:cs typeface="Helvetica Neue"/>
                        </a:rPr>
                        <a:t>4  Application validation</a:t>
                      </a:r>
                    </a:p>
                  </a:txBody>
                  <a:tcPr marL="152400" marR="152400" marT="133350" marB="114300" anchor="ctr">
                    <a:solidFill>
                      <a:srgbClr val="F5F7F6"/>
                    </a:solidFill>
                  </a:tcPr>
                </a:tc>
                <a:tc>
                  <a:txBody>
                    <a:bodyPr>
                      <a:noAutofit/>
                    </a:bodyPr>
                    <a:lstStyle/>
                    <a:p>
                      <a:r>
                        <a:rPr sz="1950" b="0">
                          <a:solidFill>
                            <a:srgbClr val="142C3B"/>
                          </a:solidFill>
                          <a:latin typeface="Helvetica Neue"/>
                          <a:ea typeface="Helvetica Neue"/>
                          <a:cs typeface="Helvetica Neue"/>
                        </a:rPr>
                        <a:t>Downstream regressions and native performance benchmarks.</a:t>
                      </a:r>
                    </a:p>
                  </a:txBody>
                  <a:tcPr marL="152400" marR="152400" marT="133350" marB="114300" anchor="ctr">
                    <a:solidFill>
                      <a:srgbClr val="F5F7F6"/>
                    </a:solidFill>
                  </a:tcPr>
                </a:tc>
              </a:tr>
            </a:tbl>
          </a:graphicData>
        </a:graphic>
      </p:graphicFrame>
      <p:sp>
        <p:nvSpPr>
          <p:cNvPr id="4" name="">
            <a:extLst xmlns:a="http://schemas.openxmlformats.org/drawingml/2006/main">
              <a:ext uri="{FF2B5EF4-FFF2-40B4-BE49-F238E27FC236}">
                <a16:creationId xmlns:a16="http://schemas.microsoft.com/office/drawing/2014/main" id="{F6307246-A755-4A13-A98D-260175B6BF81}"/>
              </a:ext>
            </a:extLst>
          </p:cNvPr>
          <p:cNvSpPr>
            <a:spLocks xmlns:a="http://schemas.openxmlformats.org/drawingml/2006/main" noGrp="1"/>
          </p:cNvSpPr>
          <p:nvPr/>
        </p:nvSpPr>
        <p:spPr>
          <a:xfrm xmlns:a="http://schemas.openxmlformats.org/drawingml/2006/main">
            <a:off x="6858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07F78"/>
                </a:solidFill>
                <a:latin typeface="Helvetica Neue"/>
                <a:ea typeface="Helvetica Neue"/>
                <a:cs typeface="Helvetica Neue"/>
              </a:defRPr>
            </a:pPr>
            <a:r>
              <a:rPr sz="2250" b="1">
                <a:solidFill>
                  <a:srgbClr val="007F78"/>
                </a:solidFill>
                <a:latin typeface="Helvetica Neue"/>
                <a:ea typeface="Helvetica Neue"/>
                <a:cs typeface="Helvetica Neue"/>
              </a:rPr>
              <a:t>Both ports still need evidence for the complete library contract.</a:t>
            </a:r>
          </a:p>
        </p:txBody>
      </p:sp>
    </p:spTree>
    <p:extLst>
      <p:ext uri="{BB962C8B-B14F-4D97-AF65-F5344CB8AC3E}">
        <p14:creationId xmlns:p14="http://schemas.microsoft.com/office/powerpoint/2010/main" val="329896343"/>
      </p:ext>
    </p:extLst>
  </p:cSld>
</p:sld>
</file>

<file path=ppt/slides/slide15.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C7195F-49A0-4F44-B808-1DBA5F6B9DA6}"/>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Appendix: Rust reference disagreements</a:t>
            </a:r>
          </a:p>
        </p:txBody>
      </p:sp>
      <p:sp>
        <p:nvSpPr>
          <p:cNvPr id="2" name="">
            <a:extLst xmlns:a="http://schemas.openxmlformats.org/drawingml/2006/main">
              <a:ext uri="{FF2B5EF4-FFF2-40B4-BE49-F238E27FC236}">
                <a16:creationId xmlns:a16="http://schemas.microsoft.com/office/drawing/2014/main" id="{6B547718-90B2-4813-8220-AFADAE0E82AD}"/>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6EBC2626-FB85-4964-BD0D-AC8173D730C3}"/>
              </a:ext>
            </a:extLst>
          </p:cNvPr>
          <p:cNvSpPr>
            <a:spLocks xmlns:a="http://schemas.openxmlformats.org/drawingml/2006/main" noGrp="1"/>
          </p:cNvSpPr>
          <p:nvPr/>
        </p:nvSpPr>
        <p:spPr>
          <a:xfrm xmlns:a="http://schemas.openxmlformats.org/drawingml/2006/main">
            <a:off x="685800" y="623887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Rust replay: 2,062 disagreements. Separate C++ replay: 2,056, documented in notes.</a:t>
            </a:r>
          </a:p>
        </p:txBody>
      </p:sp>
      <p:graphicFrame>
        <p:nvGraphicFramePr>
          <p:cNvPr id="10" name=""/>
          <p:cNvGraphicFramePr/>
          <p:nvPr/>
        </p:nvGraphicFramePr>
        <p:xfrm>
          <a:off xmlns:a="http://schemas.openxmlformats.org/drawingml/2006/main" x="685800" y="1704975"/>
          <a:ext xmlns:a="http://schemas.openxmlformats.org/drawingml/2006/main" cx="10820400" cy="4181475"/>
        </p:xfrm>
        <a:graphic xmlns:a="http://schemas.openxmlformats.org/drawingml/2006/main">
          <a:graphicData uri="http://schemas.openxmlformats.org/drawingml/2006/table">
            <a:tbl>
              <a:tblPr/>
              <a:tblGrid>
                <a:gridCol w="3448050"/>
                <a:gridCol w="1190625"/>
                <a:gridCol w="6181725"/>
              </a:tblGrid>
              <a:tr h="552450">
                <a:tc>
                  <a:txBody>
                    <a:bodyPr>
                      <a:noAutofit/>
                    </a:bodyPr>
                    <a:lstStyle/>
                    <a:p>
                      <a:r>
                        <a:rPr sz="1800" b="1">
                          <a:solidFill>
                            <a:srgbClr val="FFFFFF"/>
                          </a:solidFill>
                          <a:latin typeface="Helvetica Neue"/>
                          <a:ea typeface="Helvetica Neue"/>
                          <a:cs typeface="Helvetica Neue"/>
                        </a:rPr>
                        <a:t>API group</a:t>
                      </a:r>
                    </a:p>
                  </a:txBody>
                  <a:tcPr marL="152400" marR="152400" marT="133350" marB="114300" anchor="ctr">
                    <a:solidFill>
                      <a:srgbClr val="142C3B"/>
                    </a:solidFill>
                  </a:tcPr>
                </a:tc>
                <a:tc>
                  <a:txBody>
                    <a:bodyPr>
                      <a:noAutofit/>
                    </a:bodyPr>
                    <a:lstStyle/>
                    <a:p>
                      <a:r>
                        <a:rPr sz="1800" b="1">
                          <a:solidFill>
                            <a:srgbClr val="FFFFFF"/>
                          </a:solidFill>
                          <a:latin typeface="Helvetica Neue"/>
                          <a:ea typeface="Helvetica Neue"/>
                          <a:cs typeface="Helvetica Neue"/>
                        </a:rPr>
                        <a:t>Checks</a:t>
                      </a:r>
                    </a:p>
                  </a:txBody>
                  <a:tcPr marL="152400" marR="152400" marT="133350" marB="114300" anchor="ctr">
                    <a:solidFill>
                      <a:srgbClr val="142C3B"/>
                    </a:solidFill>
                  </a:tcPr>
                </a:tc>
                <a:tc>
                  <a:txBody>
                    <a:bodyPr>
                      <a:noAutofit/>
                    </a:bodyPr>
                    <a:lstStyle/>
                    <a:p>
                      <a:r>
                        <a:rPr sz="1800" b="1">
                          <a:solidFill>
                            <a:srgbClr val="FFFFFF"/>
                          </a:solidFill>
                          <a:latin typeface="Helvetica Neue"/>
                          <a:ea typeface="Helvetica Neue"/>
                          <a:cs typeface="Helvetica Neue"/>
                        </a:rPr>
                        <a:t>Interpretation to investigate</a:t>
                      </a:r>
                    </a:p>
                  </a:txBody>
                  <a:tcPr marL="152400" marR="152400" marT="133350" marB="114300" anchor="ctr">
                    <a:solidFill>
                      <a:srgbClr val="142C3B"/>
                    </a:solidFill>
                  </a:tcPr>
                </a:tc>
              </a:tr>
              <a:tr h="725805">
                <a:tc>
                  <a:txBody>
                    <a:bodyPr>
                      <a:noAutofit/>
                    </a:bodyPr>
                    <a:lstStyle/>
                    <a:p>
                      <a:r>
                        <a:rPr sz="1800" b="0">
                          <a:solidFill>
                            <a:srgbClr val="142C3B"/>
                          </a:solidFill>
                          <a:latin typeface="Helvetica Neue"/>
                          <a:ea typeface="Helvetica Neue"/>
                          <a:cs typeface="Helvetica Neue"/>
                        </a:rPr>
                        <a:t>Pseudoinverse</a:t>
                      </a:r>
                    </a:p>
                  </a:txBody>
                  <a:tcPr marL="152400" marR="152400" marT="133350" marB="114300" anchor="ctr">
                    <a:solidFill>
                      <a:srgbClr val="F5F7F6"/>
                    </a:solidFill>
                  </a:tcPr>
                </a:tc>
                <a:tc>
                  <a:txBody>
                    <a:bodyPr>
                      <a:noAutofit/>
                    </a:bodyPr>
                    <a:lstStyle/>
                    <a:p>
                      <a:r>
                        <a:rPr sz="1800" b="0">
                          <a:solidFill>
                            <a:srgbClr val="142C3B"/>
                          </a:solidFill>
                          <a:latin typeface="Helvetica Neue"/>
                          <a:ea typeface="Helvetica Neue"/>
                          <a:cs typeface="Helvetica Neue"/>
                        </a:rPr>
                        <a:t>512</a:t>
                      </a:r>
                    </a:p>
                  </a:txBody>
                  <a:tcPr marL="152400" marR="152400" marT="133350" marB="114300" anchor="ctr">
                    <a:solidFill>
                      <a:srgbClr val="F5F7F6"/>
                    </a:solidFill>
                  </a:tcPr>
                </a:tc>
                <a:tc>
                  <a:txBody>
                    <a:bodyPr>
                      <a:noAutofit/>
                    </a:bodyPr>
                    <a:lstStyle/>
                    <a:p>
                      <a:r>
                        <a:rPr sz="1800" b="0">
                          <a:solidFill>
                            <a:srgbClr val="142C3B"/>
                          </a:solidFill>
                          <a:latin typeface="Helvetica Neue"/>
                          <a:ea typeface="Helvetica Neue"/>
                          <a:cs typeface="Helvetica Neue"/>
                        </a:rPr>
                        <a:t>Shape / threshold and mathematical contract.</a:t>
                      </a:r>
                    </a:p>
                  </a:txBody>
                  <a:tcPr marL="152400" marR="152400" marT="133350" marB="114300" anchor="ctr">
                    <a:solidFill>
                      <a:srgbClr val="F5F7F6"/>
                    </a:solidFill>
                  </a:tcPr>
                </a:tc>
              </a:tr>
              <a:tr h="725805">
                <a:tc>
                  <a:txBody>
                    <a:bodyPr>
                      <a:noAutofit/>
                    </a:bodyPr>
                    <a:lstStyle/>
                    <a:p>
                      <a:r>
                        <a:rPr sz="1800" b="0">
                          <a:solidFill>
                            <a:srgbClr val="142C3B"/>
                          </a:solidFill>
                          <a:latin typeface="Helvetica Neue"/>
                          <a:ea typeface="Helvetica Neue"/>
                          <a:cs typeface="Helvetica Neue"/>
                        </a:rPr>
                        <a:t>Truncated SVD</a:t>
                      </a:r>
                    </a:p>
                  </a:txBody>
                  <a:tcPr marL="152400" marR="152400" marT="133350" marB="114300" anchor="ctr">
                    <a:solidFill>
                      <a:srgbClr val="F5F7F6"/>
                    </a:solidFill>
                  </a:tcPr>
                </a:tc>
                <a:tc>
                  <a:txBody>
                    <a:bodyPr>
                      <a:noAutofit/>
                    </a:bodyPr>
                    <a:lstStyle/>
                    <a:p>
                      <a:r>
                        <a:rPr sz="1800" b="0">
                          <a:solidFill>
                            <a:srgbClr val="142C3B"/>
                          </a:solidFill>
                          <a:latin typeface="Helvetica Neue"/>
                          <a:ea typeface="Helvetica Neue"/>
                          <a:cs typeface="Helvetica Neue"/>
                        </a:rPr>
                        <a:t>512</a:t>
                      </a:r>
                    </a:p>
                  </a:txBody>
                  <a:tcPr marL="152400" marR="152400" marT="133350" marB="114300" anchor="ctr">
                    <a:solidFill>
                      <a:srgbClr val="F5F7F6"/>
                    </a:solidFill>
                  </a:tcPr>
                </a:tc>
                <a:tc>
                  <a:txBody>
                    <a:bodyPr>
                      <a:noAutofit/>
                    </a:bodyPr>
                    <a:lstStyle/>
                    <a:p>
                      <a:r>
                        <a:rPr sz="1800" b="0">
                          <a:solidFill>
                            <a:srgbClr val="142C3B"/>
                          </a:solidFill>
                          <a:latin typeface="Helvetica Neue"/>
                          <a:ea typeface="Helvetica Neue"/>
                          <a:cs typeface="Helvetica Neue"/>
                        </a:rPr>
                        <a:t>Deterministic k modes versus upstream projected modes.</a:t>
                      </a:r>
                    </a:p>
                  </a:txBody>
                  <a:tcPr marL="152400" marR="152400" marT="133350" marB="114300" anchor="ctr">
                    <a:solidFill>
                      <a:srgbClr val="F5F7F6"/>
                    </a:solidFill>
                  </a:tcPr>
                </a:tc>
              </a:tr>
              <a:tr h="725805">
                <a:tc>
                  <a:txBody>
                    <a:bodyPr>
                      <a:noAutofit/>
                    </a:bodyPr>
                    <a:lstStyle/>
                    <a:p>
                      <a:r>
                        <a:rPr sz="1800" b="0">
                          <a:solidFill>
                            <a:srgbClr val="142C3B"/>
                          </a:solidFill>
                          <a:latin typeface="Helvetica Neue"/>
                          <a:ea typeface="Helvetica Neue"/>
                          <a:cs typeface="Helvetica Neue"/>
                        </a:rPr>
                        <a:t>Truncated symmetric eigen</a:t>
                      </a:r>
                    </a:p>
                  </a:txBody>
                  <a:tcPr marL="152400" marR="152400" marT="133350" marB="114300" anchor="ctr">
                    <a:solidFill>
                      <a:srgbClr val="F5F7F6"/>
                    </a:solidFill>
                  </a:tcPr>
                </a:tc>
                <a:tc>
                  <a:txBody>
                    <a:bodyPr>
                      <a:noAutofit/>
                    </a:bodyPr>
                    <a:lstStyle/>
                    <a:p>
                      <a:r>
                        <a:rPr sz="1800" b="0">
                          <a:solidFill>
                            <a:srgbClr val="142C3B"/>
                          </a:solidFill>
                          <a:latin typeface="Helvetica Neue"/>
                          <a:ea typeface="Helvetica Neue"/>
                          <a:cs typeface="Helvetica Neue"/>
                        </a:rPr>
                        <a:t>484</a:t>
                      </a:r>
                    </a:p>
                  </a:txBody>
                  <a:tcPr marL="152400" marR="152400" marT="133350" marB="114300" anchor="ctr">
                    <a:solidFill>
                      <a:srgbClr val="F5F7F6"/>
                    </a:solidFill>
                  </a:tcPr>
                </a:tc>
                <a:tc>
                  <a:txBody>
                    <a:bodyPr>
                      <a:noAutofit/>
                    </a:bodyPr>
                    <a:lstStyle/>
                    <a:p>
                      <a:r>
                        <a:rPr sz="1800" b="0">
                          <a:solidFill>
                            <a:srgbClr val="142C3B"/>
                          </a:solidFill>
                          <a:latin typeface="Helvetica Neue"/>
                          <a:ea typeface="Helvetica Neue"/>
                          <a:cs typeface="Helvetica Neue"/>
                        </a:rPr>
                        <a:t>Truncation contract and randomized behavior.</a:t>
                      </a:r>
                    </a:p>
                  </a:txBody>
                  <a:tcPr marL="152400" marR="152400" marT="133350" marB="114300" anchor="ctr">
                    <a:solidFill>
                      <a:srgbClr val="F5F7F6"/>
                    </a:solidFill>
                  </a:tcPr>
                </a:tc>
              </a:tr>
              <a:tr h="725805">
                <a:tc>
                  <a:txBody>
                    <a:bodyPr>
                      <a:noAutofit/>
                    </a:bodyPr>
                    <a:lstStyle/>
                    <a:p>
                      <a:r>
                        <a:rPr sz="1800" b="0">
                          <a:solidFill>
                            <a:srgbClr val="142C3B"/>
                          </a:solidFill>
                          <a:latin typeface="Helvetica Neue"/>
                          <a:ea typeface="Helvetica Neue"/>
                          <a:cs typeface="Helvetica Neue"/>
                        </a:rPr>
                        <a:t>Continuous Lyapunov</a:t>
                      </a:r>
                    </a:p>
                  </a:txBody>
                  <a:tcPr marL="152400" marR="152400" marT="133350" marB="114300" anchor="ctr">
                    <a:solidFill>
                      <a:srgbClr val="F5F7F6"/>
                    </a:solidFill>
                  </a:tcPr>
                </a:tc>
                <a:tc>
                  <a:txBody>
                    <a:bodyPr>
                      <a:noAutofit/>
                    </a:bodyPr>
                    <a:lstStyle/>
                    <a:p>
                      <a:r>
                        <a:rPr sz="1800" b="0">
                          <a:solidFill>
                            <a:srgbClr val="142C3B"/>
                          </a:solidFill>
                          <a:latin typeface="Helvetica Neue"/>
                          <a:ea typeface="Helvetica Neue"/>
                          <a:cs typeface="Helvetica Neue"/>
                        </a:rPr>
                        <a:t>256</a:t>
                      </a:r>
                    </a:p>
                  </a:txBody>
                  <a:tcPr marL="152400" marR="152400" marT="133350" marB="114300" anchor="ctr">
                    <a:solidFill>
                      <a:srgbClr val="F5F7F6"/>
                    </a:solidFill>
                  </a:tcPr>
                </a:tc>
                <a:tc>
                  <a:txBody>
                    <a:bodyPr>
                      <a:noAutofit/>
                    </a:bodyPr>
                    <a:lstStyle/>
                    <a:p>
                      <a:r>
                        <a:rPr sz="1800" b="0">
                          <a:solidFill>
                            <a:srgbClr val="142C3B"/>
                          </a:solidFill>
                          <a:latin typeface="Helvetica Neue"/>
                          <a:ea typeface="Helvetica Neue"/>
                          <a:cs typeface="Helvetica Neue"/>
                        </a:rPr>
                        <a:t>Complex backend support differs.</a:t>
                      </a:r>
                    </a:p>
                  </a:txBody>
                  <a:tcPr marL="152400" marR="152400" marT="133350" marB="114300" anchor="ctr">
                    <a:solidFill>
                      <a:srgbClr val="F5F7F6"/>
                    </a:solidFill>
                  </a:tcPr>
                </a:tc>
              </a:tr>
              <a:tr h="725805">
                <a:tc>
                  <a:txBody>
                    <a:bodyPr>
                      <a:noAutofit/>
                    </a:bodyPr>
                    <a:lstStyle/>
                    <a:p>
                      <a:r>
                        <a:rPr sz="1800" b="0">
                          <a:solidFill>
                            <a:srgbClr val="142C3B"/>
                          </a:solidFill>
                          <a:latin typeface="Helvetica Neue"/>
                          <a:ea typeface="Helvetica Neue"/>
                          <a:cs typeface="Helvetica Neue"/>
                        </a:rPr>
                        <a:t>LU / nullspace / general eigen</a:t>
                      </a:r>
                    </a:p>
                  </a:txBody>
                  <a:tcPr marL="152400" marR="152400" marT="133350" marB="114300" anchor="ctr">
                    <a:solidFill>
                      <a:srgbClr val="F5F7F6"/>
                    </a:solidFill>
                  </a:tcPr>
                </a:tc>
                <a:tc>
                  <a:txBody>
                    <a:bodyPr>
                      <a:noAutofit/>
                    </a:bodyPr>
                    <a:lstStyle/>
                    <a:p>
                      <a:r>
                        <a:rPr sz="1800" b="0">
                          <a:solidFill>
                            <a:srgbClr val="142C3B"/>
                          </a:solidFill>
                          <a:latin typeface="Helvetica Neue"/>
                          <a:ea typeface="Helvetica Neue"/>
                          <a:cs typeface="Helvetica Neue"/>
                        </a:rPr>
                        <a:t>298</a:t>
                      </a:r>
                    </a:p>
                  </a:txBody>
                  <a:tcPr marL="152400" marR="152400" marT="133350" marB="114300" anchor="ctr">
                    <a:solidFill>
                      <a:srgbClr val="F5F7F6"/>
                    </a:solidFill>
                  </a:tcPr>
                </a:tc>
                <a:tc>
                  <a:txBody>
                    <a:bodyPr>
                      <a:noAutofit/>
                    </a:bodyPr>
                    <a:lstStyle/>
                    <a:p>
                      <a:r>
                        <a:rPr sz="1800" b="0">
                          <a:solidFill>
                            <a:srgbClr val="142C3B"/>
                          </a:solidFill>
                          <a:latin typeface="Helvetica Neue"/>
                          <a:ea typeface="Helvetica Neue"/>
                          <a:cs typeface="Helvetica Neue"/>
                        </a:rPr>
                        <a:t>232 / 43 / 23; factor, threshold or residual differences.</a:t>
                      </a:r>
                    </a:p>
                  </a:txBody>
                  <a:tcPr marL="152400" marR="152400" marT="133350" marB="114300" anchor="ctr">
                    <a:solidFill>
                      <a:srgbClr val="F5F7F6"/>
                    </a:solidFill>
                  </a:tcPr>
                </a:tc>
              </a:tr>
            </a:tbl>
          </a:graphicData>
        </a:graphic>
      </p:graphicFrame>
    </p:spTree>
    <p:extLst>
      <p:ext uri="{BB962C8B-B14F-4D97-AF65-F5344CB8AC3E}">
        <p14:creationId xmlns:p14="http://schemas.microsoft.com/office/powerpoint/2010/main" val="3063505"/>
      </p:ext>
    </p:extLst>
  </p:cSld>
</p:sld>
</file>

<file path=ppt/slides/slide16.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54E7A9-268A-4E1A-A000-32B36EF7CE23}"/>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42C3B"/>
                </a:solidFill>
                <a:latin typeface="Helvetica Neue"/>
                <a:ea typeface="Helvetica Neue"/>
                <a:cs typeface="Helvetica Neue"/>
              </a:defRPr>
            </a:pPr>
            <a:r>
              <a:rPr sz="3300" b="1">
                <a:solidFill>
                  <a:srgbClr val="142C3B"/>
                </a:solidFill>
                <a:latin typeface="Helvetica Neue"/>
                <a:ea typeface="Helvetica Neue"/>
                <a:cs typeface="Helvetica Neue"/>
              </a:rPr>
              <a:t>Appendix: where verification tools fit</a:t>
            </a:r>
          </a:p>
        </p:txBody>
      </p:sp>
      <p:sp>
        <p:nvSpPr>
          <p:cNvPr id="2" name="">
            <a:extLst xmlns:a="http://schemas.openxmlformats.org/drawingml/2006/main">
              <a:ext uri="{FF2B5EF4-FFF2-40B4-BE49-F238E27FC236}">
                <a16:creationId xmlns:a16="http://schemas.microsoft.com/office/drawing/2014/main" id="{D748D612-FE45-4F9E-BB9E-EA6C1B0489CD}"/>
              </a:ext>
            </a:extLst>
          </p:cNvPr>
          <p:cNvSpPr>
            <a:spLocks xmlns:a="http://schemas.openxmlformats.org/drawingml/2006/main" noGrp="1"/>
          </p:cNvSpPr>
          <p:nvPr/>
        </p:nvSpPr>
        <p:spPr>
          <a:xfrm xmlns:a="http://schemas.openxmlformats.org/drawingml/2006/main">
            <a:off x="11144250" y="640080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25" b="0">
                <a:solidFill>
                  <a:srgbClr val="526673"/>
                </a:solidFill>
                <a:latin typeface="Helvetica Neue"/>
                <a:ea typeface="Helvetica Neue"/>
                <a:cs typeface="Helvetica Neue"/>
              </a:defRPr>
            </a:pPr>
            <a:r>
              <a:rPr sz="1125" b="0">
                <a:solidFill>
                  <a:srgbClr val="526673"/>
                </a:solidFill>
                <a:latin typeface="Helvetica Neue"/>
                <a:ea typeface="Helvetica Neue"/>
                <a:cs typeface="Helvetica Neue"/>
              </a:rPr>
              <a:t>16</a:t>
            </a:r>
          </a:p>
        </p:txBody>
      </p:sp>
      <p:graphicFrame>
        <p:nvGraphicFramePr>
          <p:cNvPr id="9" name=""/>
          <p:cNvGraphicFramePr/>
          <p:nvPr/>
        </p:nvGraphicFramePr>
        <p:xfrm>
          <a:off xmlns:a="http://schemas.openxmlformats.org/drawingml/2006/main" x="685800" y="1743075"/>
          <a:ext xmlns:a="http://schemas.openxmlformats.org/drawingml/2006/main" cx="10820400" cy="3714750"/>
        </p:xfrm>
        <a:graphic xmlns:a="http://schemas.openxmlformats.org/drawingml/2006/main">
          <a:graphicData uri="http://schemas.openxmlformats.org/drawingml/2006/table">
            <a:tbl>
              <a:tblPr/>
              <a:tblGrid>
                <a:gridCol w="2314575"/>
                <a:gridCol w="4095750"/>
                <a:gridCol w="4410075"/>
              </a:tblGrid>
              <a:tr h="552450">
                <a:tc>
                  <a:txBody>
                    <a:bodyPr>
                      <a:noAutofit/>
                    </a:bodyPr>
                    <a:lstStyle/>
                    <a:p>
                      <a:r>
                        <a:rPr sz="1875" b="1">
                          <a:solidFill>
                            <a:srgbClr val="FFFFFF"/>
                          </a:solidFill>
                          <a:latin typeface="Helvetica Neue"/>
                          <a:ea typeface="Helvetica Neue"/>
                          <a:cs typeface="Helvetica Neue"/>
                        </a:rPr>
                        <a:t>Tool / approach</a:t>
                      </a:r>
                    </a:p>
                  </a:txBody>
                  <a:tcPr marL="152400" marR="152400" marT="133350" marB="114300" anchor="ctr">
                    <a:solidFill>
                      <a:srgbClr val="142C3B"/>
                    </a:solidFill>
                  </a:tcPr>
                </a:tc>
                <a:tc>
                  <a:txBody>
                    <a:bodyPr>
                      <a:noAutofit/>
                    </a:bodyPr>
                    <a:lstStyle/>
                    <a:p>
                      <a:r>
                        <a:rPr sz="1875" b="1">
                          <a:solidFill>
                            <a:srgbClr val="FFFFFF"/>
                          </a:solidFill>
                          <a:latin typeface="Helvetica Neue"/>
                          <a:ea typeface="Helvetica Neue"/>
                          <a:cs typeface="Helvetica Neue"/>
                        </a:rPr>
                        <a:t>Role</a:t>
                      </a:r>
                    </a:p>
                  </a:txBody>
                  <a:tcPr marL="152400" marR="152400" marT="133350" marB="114300" anchor="ctr">
                    <a:solidFill>
                      <a:srgbClr val="142C3B"/>
                    </a:solidFill>
                  </a:tcPr>
                </a:tc>
                <a:tc>
                  <a:txBody>
                    <a:bodyPr>
                      <a:noAutofit/>
                    </a:bodyPr>
                    <a:lstStyle/>
                    <a:p>
                      <a:r>
                        <a:rPr sz="1875" b="1">
                          <a:solidFill>
                            <a:srgbClr val="FFFFFF"/>
                          </a:solidFill>
                          <a:latin typeface="Helvetica Neue"/>
                          <a:ea typeface="Helvetica Neue"/>
                          <a:cs typeface="Helvetica Neue"/>
                        </a:rPr>
                        <a:t>Main boundary</a:t>
                      </a:r>
                    </a:p>
                  </a:txBody>
                  <a:tcPr marL="152400" marR="152400" marT="133350" marB="114300" anchor="ctr">
                    <a:solidFill>
                      <a:srgbClr val="142C3B"/>
                    </a:solidFill>
                  </a:tcPr>
                </a:tc>
              </a:tr>
              <a:tr h="790575">
                <a:tc>
                  <a:txBody>
                    <a:bodyPr>
                      <a:noAutofit/>
                    </a:bodyPr>
                    <a:lstStyle/>
                    <a:p>
                      <a:r>
                        <a:rPr sz="1875" b="0">
                          <a:solidFill>
                            <a:srgbClr val="142C3B"/>
                          </a:solidFill>
                          <a:latin typeface="Helvetica Neue"/>
                          <a:ea typeface="Helvetica Neue"/>
                          <a:cs typeface="Helvetica Neue"/>
                        </a:rPr>
                        <a:t>SymSan</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Generate inputs from path constraints.</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Decoder only. Source computations run natively.</a:t>
                      </a:r>
                    </a:p>
                  </a:txBody>
                  <a:tcPr marL="152400" marR="152400" marT="133350" marB="114300" anchor="ctr">
                    <a:solidFill>
                      <a:srgbClr val="F5F7F6"/>
                    </a:solidFill>
                  </a:tcPr>
                </a:tc>
              </a:tr>
              <a:tr h="790575">
                <a:tc>
                  <a:txBody>
                    <a:bodyPr>
                      <a:noAutofit/>
                    </a:bodyPr>
                    <a:lstStyle/>
                    <a:p>
                      <a:r>
                        <a:rPr sz="1875" b="0">
                          <a:solidFill>
                            <a:srgbClr val="142C3B"/>
                          </a:solidFill>
                          <a:latin typeface="Helvetica Neue"/>
                          <a:ea typeface="Helvetica Neue"/>
                          <a:cs typeface="Helvetica Neue"/>
                        </a:rPr>
                        <a:t>Alive2</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Check LLVM function-pair refinement.</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Requires compatible IR / memory model; bounded loops.</a:t>
                      </a:r>
                    </a:p>
                  </a:txBody>
                  <a:tcPr marL="152400" marR="152400" marT="133350" marB="114300" anchor="ctr">
                    <a:solidFill>
                      <a:srgbClr val="F5F7F6"/>
                    </a:solidFill>
                  </a:tcPr>
                </a:tc>
              </a:tr>
              <a:tr h="790575">
                <a:tc>
                  <a:txBody>
                    <a:bodyPr>
                      <a:noAutofit/>
                    </a:bodyPr>
                    <a:lstStyle/>
                    <a:p>
                      <a:r>
                        <a:rPr sz="1875" b="0">
                          <a:solidFill>
                            <a:srgbClr val="142C3B"/>
                          </a:solidFill>
                          <a:latin typeface="Helvetica Neue"/>
                          <a:ea typeface="Helvetica Neue"/>
                          <a:cs typeface="Helvetica Neue"/>
                        </a:rPr>
                        <a:t>CBMC + Kani</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Six bounded compositional Tensor proofs.</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Trusted math/compiler/memory. Adapters/BLAS excluded.</a:t>
                      </a:r>
                    </a:p>
                  </a:txBody>
                  <a:tcPr marL="152400" marR="152400" marT="133350" marB="114300" anchor="ctr">
                    <a:solidFill>
                      <a:srgbClr val="F5F7F6"/>
                    </a:solidFill>
                  </a:tcPr>
                </a:tc>
              </a:tr>
              <a:tr h="790575">
                <a:tc>
                  <a:txBody>
                    <a:bodyPr>
                      <a:noAutofit/>
                    </a:bodyPr>
                    <a:lstStyle/>
                    <a:p>
                      <a:r>
                        <a:rPr sz="1875" b="0">
                          <a:solidFill>
                            <a:srgbClr val="142C3B"/>
                          </a:solidFill>
                          <a:latin typeface="Helvetica Neue"/>
                          <a:ea typeface="Helvetica Neue"/>
                          <a:cs typeface="Helvetica Neue"/>
                        </a:rPr>
                        <a:t>SAGE</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Translate, replay and retain both kinds of evidence.</a:t>
                      </a:r>
                    </a:p>
                  </a:txBody>
                  <a:tcPr marL="152400" marR="152400" marT="133350" marB="114300" anchor="ctr">
                    <a:solidFill>
                      <a:srgbClr val="F5F7F6"/>
                    </a:solidFill>
                  </a:tcPr>
                </a:tc>
                <a:tc>
                  <a:txBody>
                    <a:bodyPr>
                      <a:noAutofit/>
                    </a:bodyPr>
                    <a:lstStyle/>
                    <a:p>
                      <a:r>
                        <a:rPr sz="1875" b="0">
                          <a:solidFill>
                            <a:srgbClr val="142C3B"/>
                          </a:solidFill>
                          <a:latin typeface="Helvetica Neue"/>
                          <a:ea typeface="Helvetica Neue"/>
                          <a:cs typeface="Helvetica Neue"/>
                        </a:rPr>
                        <a:t>Whole-library equivalence remains incomplete.</a:t>
                      </a:r>
                    </a:p>
                  </a:txBody>
                  <a:tcPr marL="152400" marR="152400" marT="133350" marB="114300" anchor="ctr">
                    <a:solidFill>
                      <a:srgbClr val="F5F7F6"/>
                    </a:solidFill>
                  </a:tcPr>
                </a:tc>
              </a:tr>
            </a:tbl>
          </a:graphicData>
        </a:graphic>
      </p:graphicFrame>
      <p:sp>
        <p:nvSpPr>
          <p:cNvPr id="4" name="">
            <a:extLst xmlns:a="http://schemas.openxmlformats.org/drawingml/2006/main">
              <a:ext uri="{FF2B5EF4-FFF2-40B4-BE49-F238E27FC236}">
                <a16:creationId xmlns:a16="http://schemas.microsoft.com/office/drawing/2014/main" id="{833A8301-6BEB-4B0D-9863-FCB86390016F}"/>
              </a:ext>
            </a:extLst>
          </p:cNvPr>
          <p:cNvSpPr>
            <a:spLocks xmlns:a="http://schemas.openxmlformats.org/drawingml/2006/main" noGrp="1"/>
          </p:cNvSpPr>
          <p:nvPr/>
        </p:nvSpPr>
        <p:spPr>
          <a:xfrm xmlns:a="http://schemas.openxmlformats.org/drawingml/2006/main">
            <a:off x="685800" y="57245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Tool choice follows the kernel, semantics and proof obligation.</a:t>
            </a:r>
          </a:p>
        </p:txBody>
      </p:sp>
    </p:spTree>
    <p:extLst>
      <p:ext uri="{BB962C8B-B14F-4D97-AF65-F5344CB8AC3E}">
        <p14:creationId xmlns:p14="http://schemas.microsoft.com/office/powerpoint/2010/main" val="20839352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2026-10-06T19:04:21.5090000Z</dcterms:created>
  <dcterms:modified xsi:type="dcterms:W3CDTF">2026-10-06T19:04:21.5090000Z</dcterms:modified>
</coreProperties>
</file>